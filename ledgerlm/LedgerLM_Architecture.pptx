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27432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9144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LedgerLM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i="0">
                <a:solidFill>
                  <a:srgbClr val="00C2CB"/>
                </a:solidFill>
              </a:rPr>
              <a:t>Multi-Tenant Platform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C3C7"/>
                </a:solidFill>
              </a:rPr>
              <a:t>Building Blocks  ·  Design Decisions  ·  Implementation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035808"/>
            <a:ext cx="2816352" cy="841248"/>
          </a:xfrm>
          <a:prstGeom prst="rect">
            <a:avLst/>
          </a:prstGeom>
          <a:solidFill>
            <a:srgbClr val="1A355E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3090672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CB"/>
                </a:solidFill>
              </a:rPr>
              <a:t>Matasma / LedgerLM.ai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3419856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DC3C7"/>
                </a:solidFill>
              </a:rPr>
              <a:t>Platform owner — Super Admin control plane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3035808"/>
            <a:ext cx="2816352" cy="841248"/>
          </a:xfrm>
          <a:prstGeom prst="rect">
            <a:avLst/>
          </a:prstGeom>
          <a:solidFill>
            <a:srgbClr val="1A355E"/>
          </a:solidFill>
          <a:ln w="1905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3090672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6FBF"/>
                </a:solidFill>
              </a:rPr>
              <a:t>Bosch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3419856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DC3C7"/>
                </a:solidFill>
              </a:rPr>
              <a:t>Tenant → bosch.ledgerlm.ai or self-hosted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3035808"/>
            <a:ext cx="2816352" cy="841248"/>
          </a:xfrm>
          <a:prstGeom prst="rect">
            <a:avLst/>
          </a:prstGeom>
          <a:solidFill>
            <a:srgbClr val="1A355E"/>
          </a:solidFill>
          <a:ln w="1905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3090672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6FBF"/>
                </a:solidFill>
              </a:rPr>
              <a:t>Nemko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3419856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DC3C7"/>
                </a:solidFill>
              </a:rPr>
              <a:t>Tenant → nemko.ledgerlm.ai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98864" y="3035808"/>
            <a:ext cx="2816352" cy="841248"/>
          </a:xfrm>
          <a:prstGeom prst="rect">
            <a:avLst/>
          </a:prstGeom>
          <a:solidFill>
            <a:srgbClr val="1A355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8592" y="3090672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Any New 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3419856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DC3C7"/>
                </a:solidFill>
              </a:rPr>
              <a:t>Configured in Super Admin —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355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DC3C7"/>
                </a:solidFill>
              </a:rPr>
              <a:t>10 Building Blocks  ·  April 2025  ·  Matasma Internal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Platform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CB"/>
                </a:solidFill>
              </a:rPr>
              <a:t>Three-layer model — Control Plane → App Layer → Data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11539728" cy="1508760"/>
          </a:xfrm>
          <a:prstGeom prst="rect">
            <a:avLst/>
          </a:prstGeom>
          <a:solidFill>
            <a:srgbClr val="1A355E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2331720" cy="150876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4630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CONTROL PLANE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938528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D1B2A"/>
                </a:solidFill>
              </a:rPr>
              <a:t>ledgerlm.ai  (Matasma Super Admin)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55448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• Create &amp; configure tenant domains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59" y="155448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• Set AI model, embedding, SSO, SMTP per 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212848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• Assign data_schema_type (Bosch / Nemko / Generic)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59" y="2212848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• Monitor all tenants from one portal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035808"/>
            <a:ext cx="11539728" cy="1508760"/>
          </a:xfrm>
          <a:prstGeom prst="rect">
            <a:avLst/>
          </a:prstGeom>
          <a:solidFill>
            <a:srgbClr val="1A355E"/>
          </a:solidFill>
          <a:ln w="1905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035808"/>
            <a:ext cx="2331720" cy="150876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31272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APPLICATION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602736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D1B2A"/>
                </a:solidFill>
              </a:rPr>
              <a:t>Shared SaaS  or  Self-Hosted per tenant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218688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• bosch.ledgerlm.ai → Bosch employees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3218688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• nemko.ledgerlm.ai → Nemko employees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877056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• Host header → middleware reads domain → loads config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59" y="3877056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• Same Docker image for SaaS and self-hosted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700016"/>
            <a:ext cx="11539728" cy="1508760"/>
          </a:xfrm>
          <a:prstGeom prst="rect">
            <a:avLst/>
          </a:prstGeom>
          <a:solidFill>
            <a:srgbClr val="1A355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700016"/>
            <a:ext cx="2331720" cy="1508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4791456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DATA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5266944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D1B2A"/>
                </a:solidFill>
              </a:rPr>
              <a:t>PostgreSQL + pgvector  (isolated by cube_id)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882896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• Shared tables — all tenants isolated by cube_id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59" y="4882896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• Vector embeddings per domain at correct dimension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5541264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• Row-level enforcement prevents cross-tenant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59" y="5541264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• SQL logic driven by data_schema_type from 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492240"/>
            <a:ext cx="1153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00C2CB"/>
                </a:solidFill>
              </a:rPr>
              <a:t>→  The 10 building blocks on the following slides make all three layers work 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Block 1 — Tenant Identity &amp; Domain Creation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CB"/>
                </a:solidFill>
              </a:rPr>
              <a:t>The "domains" table row is the entire tenant config — one record drives everything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BDC3C7"/>
                </a:solidFill>
              </a:rPr>
              <a:t>Every other building block reads from this one DB record. Super Admin fills it once — nothing else needs changing.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00784"/>
            <a:ext cx="2057400" cy="32004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746504"/>
            <a:ext cx="1929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Column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700784"/>
            <a:ext cx="2286000" cy="32004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1746504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Example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700784"/>
            <a:ext cx="4114800" cy="32004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1746504"/>
            <a:ext cx="3986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1700784"/>
            <a:ext cx="1234440" cy="32004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9408" y="1746504"/>
            <a:ext cx="1106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020824"/>
            <a:ext cx="11521440" cy="3657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1929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CB"/>
                </a:solidFill>
              </a:rPr>
              <a:t>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2093976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in.bosch.com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2093976"/>
            <a:ext cx="3986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Domain identifier — matched from Host header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408" y="2093976"/>
            <a:ext cx="1106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AE60"/>
                </a:solidFill>
              </a:rPr>
              <a:t>Done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414016"/>
            <a:ext cx="11521440" cy="365760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2487168"/>
            <a:ext cx="1929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CB"/>
                </a:solidFill>
              </a:rPr>
              <a:t>display_name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7168" y="2487168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Bosch Financial Intel.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8888" y="2487168"/>
            <a:ext cx="3986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Shown in UI headers and emails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408" y="2487168"/>
            <a:ext cx="1106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AE60"/>
                </a:solidFill>
              </a:rPr>
              <a:t>Done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807208"/>
            <a:ext cx="11521440" cy="3657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2880360"/>
            <a:ext cx="1929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CB"/>
                </a:solidFill>
              </a:rPr>
              <a:t>slug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7168" y="2880360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bosch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888" y="2880360"/>
            <a:ext cx="3986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URL prefix → bosch.ledgerlm.ai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9408" y="2880360"/>
            <a:ext cx="1106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7E22"/>
                </a:solidFill>
              </a:rPr>
              <a:t>Add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200400"/>
            <a:ext cx="11521440" cy="365760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3273552"/>
            <a:ext cx="1929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CB"/>
                </a:solidFill>
              </a:rPr>
              <a:t>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3273552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active / suspended / trial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18888" y="3273552"/>
            <a:ext cx="3986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Tenant lifecycle management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9408" y="3273552"/>
            <a:ext cx="1106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7E22"/>
                </a:solidFill>
              </a:rPr>
              <a:t>Add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593591"/>
            <a:ext cx="11521440" cy="3657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666744"/>
            <a:ext cx="1929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CB"/>
                </a:solidFill>
              </a:rPr>
              <a:t>plan_type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87168" y="3666744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saas / self_hosted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18888" y="3666744"/>
            <a:ext cx="3986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Deployment mode determines data sovereignty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79408" y="3666744"/>
            <a:ext cx="1106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7E22"/>
                </a:solidFill>
              </a:rPr>
              <a:t>Add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986783"/>
            <a:ext cx="11521440" cy="365760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8" y="4059935"/>
            <a:ext cx="1929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CB"/>
                </a:solidFill>
              </a:rPr>
              <a:t>data_schema_type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87168" y="4059935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bosch / nemko / generic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8888" y="4059935"/>
            <a:ext cx="3986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Drives Python SQL builder — KEY column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79408" y="4059935"/>
            <a:ext cx="1106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39C12"/>
                </a:solidFill>
              </a:rPr>
              <a:t>Add 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379976"/>
            <a:ext cx="11521440" cy="3657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4048" y="4453128"/>
            <a:ext cx="1929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CB"/>
                </a:solidFill>
              </a:rPr>
              <a:t>deployment_url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87168" y="4453128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bosch.ledgerlm.ai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18888" y="4453128"/>
            <a:ext cx="3986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The live URL for this tenant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79408" y="4453128"/>
            <a:ext cx="1106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7E22"/>
                </a:solidFill>
              </a:rPr>
              <a:t>Add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773168"/>
            <a:ext cx="11521440" cy="365760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4048" y="4846320"/>
            <a:ext cx="1929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CB"/>
                </a:solidFill>
              </a:rPr>
              <a:t>smtp_host / smtp_port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87168" y="4846320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smtp.bosch.com  /  587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18888" y="4846320"/>
            <a:ext cx="3986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Per-domain email delivery config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79408" y="4846320"/>
            <a:ext cx="1106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392B"/>
                </a:solidFill>
              </a:rPr>
              <a:t>Missing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166360"/>
            <a:ext cx="11521440" cy="3657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239512"/>
            <a:ext cx="1929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CB"/>
                </a:solidFill>
              </a:rPr>
              <a:t>branding_name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87168" y="5239512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Bosch Financial Intel.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18888" y="5239512"/>
            <a:ext cx="3986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Branded name on login page &amp; emails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79408" y="5239512"/>
            <a:ext cx="1106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392B"/>
                </a:solidFill>
              </a:rPr>
              <a:t>Missing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5559552"/>
            <a:ext cx="11521440" cy="365760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4048" y="5632704"/>
            <a:ext cx="1929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CB"/>
                </a:solidFill>
              </a:rPr>
              <a:t>branding_logo_url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87168" y="5632704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https://cdn.../logo.png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18888" y="5632704"/>
            <a:ext cx="3986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Client logo everywhere in UI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79408" y="5632704"/>
            <a:ext cx="1106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392B"/>
                </a:solidFill>
              </a:rPr>
              <a:t>Missing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5952744"/>
            <a:ext cx="11521440" cy="3657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84048" y="6025896"/>
            <a:ext cx="1929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CB"/>
                </a:solidFill>
              </a:rPr>
              <a:t>ai_embedding_dimensions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487168" y="6025896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768 / 1536 / 3072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18888" y="6025896"/>
            <a:ext cx="3986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Vector size for this domain embeddings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79408" y="6025896"/>
            <a:ext cx="1106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392B"/>
                </a:solidFill>
              </a:rPr>
              <a:t>Missing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Block 2 — Authentication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CB"/>
                </a:solidFill>
              </a:rPr>
              <a:t>Login method + SSO credentials + SMTP — each configured per domain independently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2834640" cy="5303520"/>
          </a:xfrm>
          <a:prstGeom prst="rect">
            <a:avLst/>
          </a:prstGeom>
          <a:solidFill>
            <a:srgbClr val="1A355E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2834640" cy="566928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399032"/>
            <a:ext cx="26700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2a  Login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029968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OTP (default) — 6-digit code via 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734056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Microsoft SSO — Azure AD / Entra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438144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Google SSO — OAuth2 client credentials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142232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SAML — Enterprise IdP (future)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4846320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auth_method column in domains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5550408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Login page adapts to configured method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371600"/>
            <a:ext cx="2834640" cy="5303520"/>
          </a:xfrm>
          <a:prstGeom prst="rect">
            <a:avLst/>
          </a:prstGeom>
          <a:solidFill>
            <a:srgbClr val="1A355E"/>
          </a:solidFill>
          <a:ln w="1905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1371600"/>
            <a:ext cx="2834640" cy="566928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1399032"/>
            <a:ext cx="26700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2b  Microsoft SSO</a:t>
            </a:r>
          </a:p>
          <a:p>
            <a:pPr algn="ctr"/>
            <a:r>
              <a:rPr sz="1000" b="1" i="0">
                <a:solidFill>
                  <a:srgbClr val="0D1B2A"/>
                </a:solidFill>
              </a:rPr>
              <a:t>Config (per domain)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2" y="2029968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sso_tenant_id  →  Azure AD Tenant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2734056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sso_client_id  →  App Registration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0712" y="3438144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sso_client_secret → encrypted in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0712" y="4142232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Redirect URI auto-built from slug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2" y="4846320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One app handles multiple AD tenants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0712" y="5550408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Schema: done  ·  Flow: partial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371600"/>
            <a:ext cx="2834640" cy="5303520"/>
          </a:xfrm>
          <a:prstGeom prst="rect">
            <a:avLst/>
          </a:prstGeom>
          <a:solidFill>
            <a:srgbClr val="1A355E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1371600"/>
            <a:ext cx="2834640" cy="5669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79" y="1399032"/>
            <a:ext cx="26700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2c  SMTP</a:t>
            </a:r>
          </a:p>
          <a:p>
            <a:pPr algn="ctr"/>
            <a:r>
              <a:rPr sz="1000" b="1" i="0">
                <a:solidFill>
                  <a:srgbClr val="0D1B2A"/>
                </a:solidFill>
              </a:rPr>
              <a:t>(per domain)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2029968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smtp_host / smtp_port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734056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smtp_user / smtp_password (encrypted)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3438144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from_address → noreply@bosch.ledgerlm.ai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142232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from_name  →  Bosch LedgerLM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4846320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OTP + welcome emails from domain SMTP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5550408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392B"/>
                </a:solidFill>
              </a:rPr>
              <a:t>• STATUS: MISSING from schema entirely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1371600"/>
            <a:ext cx="2834640" cy="5303520"/>
          </a:xfrm>
          <a:prstGeom prst="rect">
            <a:avLst/>
          </a:prstGeom>
          <a:solidFill>
            <a:srgbClr val="1A355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35440" y="1371600"/>
            <a:ext cx="283464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1399032"/>
            <a:ext cx="26700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2d  Session / JWT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54312" y="2029968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JWT scoped to domain_id + user_id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4312" y="2734056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Bosch user cannot access Nemko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54312" y="3438144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Session expiry configurable per domain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54312" y="4142232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Refresh token strategy per plan type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54312" y="4846320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domain_id verified on every API call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54312" y="5550408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Status: domain scoping done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Block 3 — AI Model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CB"/>
                </a:solidFill>
              </a:rPr>
              <a:t>Two independent configs per domain: Chat LLM + Embedding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486400" cy="5230368"/>
          </a:xfrm>
          <a:prstGeom prst="rect">
            <a:avLst/>
          </a:prstGeom>
          <a:solidFill>
            <a:srgbClr val="1A355E"/>
          </a:solidFill>
          <a:ln w="1905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5486400" cy="50292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08176"/>
            <a:ext cx="53218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3a  Chat / Reasoning LLM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93392"/>
            <a:ext cx="5212080" cy="60350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03911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CB"/>
                </a:solidFill>
              </a:rPr>
              <a:t>ai_provider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066544"/>
            <a:ext cx="886968" cy="2377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93976"/>
            <a:ext cx="7955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313432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ollama  |  azure_openai  |  openai  |  anthropic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79192"/>
            <a:ext cx="5212080" cy="60350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72491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CB"/>
                </a:solidFill>
              </a:rPr>
              <a:t>ai_endpoint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752344"/>
            <a:ext cx="886968" cy="2377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779776"/>
            <a:ext cx="7955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999232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https://xxx.openai.azure.com  (Azure only)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64992"/>
            <a:ext cx="5212080" cy="60350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41071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CB"/>
                </a:solidFill>
              </a:rPr>
              <a:t>ai_api_key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3438144"/>
            <a:ext cx="886968" cy="2377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465576"/>
            <a:ext cx="7955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685032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Encrypted at rest in DB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50791"/>
            <a:ext cx="5212080" cy="60350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096511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CB"/>
                </a:solidFill>
              </a:rPr>
              <a:t>ai_chat_model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4123944"/>
            <a:ext cx="886968" cy="2377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151376"/>
            <a:ext cx="7955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370831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gpt-5.2-chat  or  qwen2.5:32b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736592"/>
            <a:ext cx="5212080" cy="60350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478231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CB"/>
                </a:solidFill>
              </a:rPr>
              <a:t>ai_chat_api_version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4809744"/>
            <a:ext cx="886968" cy="2377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4837176"/>
            <a:ext cx="7955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5056631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2024-12-01-preview  (Azure only)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422392"/>
            <a:ext cx="5212080" cy="60350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46811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CB"/>
                </a:solidFill>
              </a:rPr>
              <a:t>ai_system_prompt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5495544"/>
            <a:ext cx="886968" cy="2377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7720" y="5522976"/>
            <a:ext cx="7955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5742431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Custom instructions / persona for this domain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053328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7AE60"/>
                </a:solidFill>
              </a:rPr>
              <a:t>✓ All 6 columns exist · Node.js reads + passes to streaming · Works today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1371600"/>
            <a:ext cx="5760720" cy="5230368"/>
          </a:xfrm>
          <a:prstGeom prst="rect">
            <a:avLst/>
          </a:prstGeom>
          <a:solidFill>
            <a:srgbClr val="1A355E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80760" y="1371600"/>
            <a:ext cx="576072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1408176"/>
            <a:ext cx="55961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3b  Embedding Model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1993392"/>
            <a:ext cx="5486400" cy="694944"/>
          </a:xfrm>
          <a:prstGeom prst="rect">
            <a:avLst/>
          </a:prstGeom>
          <a:solidFill>
            <a:srgbClr val="1A253E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27648" y="204825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CB"/>
                </a:solidFill>
              </a:rPr>
              <a:t>ai_embedding_model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07040" y="2084832"/>
            <a:ext cx="1097280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652760" y="2112264"/>
            <a:ext cx="1005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27648" y="235915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text-embedding-3-large  or  nomic-embed-text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2798064"/>
            <a:ext cx="5486400" cy="694944"/>
          </a:xfrm>
          <a:prstGeom prst="rect">
            <a:avLst/>
          </a:prstGeom>
          <a:solidFill>
            <a:srgbClr val="1A253E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27648" y="28529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CB"/>
                </a:solidFill>
              </a:rPr>
              <a:t>ai_embedding_api_version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607040" y="2889504"/>
            <a:ext cx="1097280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52760" y="2916936"/>
            <a:ext cx="1005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27648" y="316382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2024-02-01  (Azure only)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3602736"/>
            <a:ext cx="5486400" cy="694944"/>
          </a:xfrm>
          <a:prstGeom prst="rect">
            <a:avLst/>
          </a:prstGeom>
          <a:solidFill>
            <a:srgbClr val="1A253E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27648" y="36576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CB"/>
                </a:solidFill>
              </a:rPr>
              <a:t>ai_embedding_dimensions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607040" y="3694176"/>
            <a:ext cx="10972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652760" y="3721608"/>
            <a:ext cx="1005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MISSING 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7648" y="396849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768  |  1536  |  3072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80760" y="4434840"/>
            <a:ext cx="5760720" cy="2029968"/>
          </a:xfrm>
          <a:prstGeom prst="rect">
            <a:avLst/>
          </a:prstGeom>
          <a:solidFill>
            <a:srgbClr val="1A1005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36208" y="45079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7E22"/>
                </a:solidFill>
              </a:rPr>
              <a:t>WHY DIMENSIONS MATTER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36208" y="4800600"/>
            <a:ext cx="5486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pgvector stores vectors as vector(N) — a fixed N.</a:t>
            </a:r>
          </a:p>
          <a:p>
            <a:pPr algn="l"/>
            <a:r>
              <a:rPr sz="900" b="0" i="0">
                <a:solidFill>
                  <a:srgbClr val="ECF0F1"/>
                </a:solidFill>
              </a:rPr>
              <a:t>Bosch (Azure)  →  text-embedding-3-large  →  3072 dims</a:t>
            </a:r>
          </a:p>
          <a:p>
            <a:pPr algn="l"/>
            <a:r>
              <a:rPr sz="900" b="0" i="0">
                <a:solidFill>
                  <a:srgbClr val="ECF0F1"/>
                </a:solidFill>
              </a:rPr>
              <a:t>Nemko (Ollama) →  nomic-embed-text        →   768 dims</a:t>
            </a:r>
          </a:p>
          <a:p>
            <a:pPr algn="l"/>
            <a:r>
              <a:rPr sz="900" b="0" i="0">
                <a:solidFill>
                  <a:srgbClr val="ECF0F1"/>
                </a:solidFill>
              </a:rPr>
              <a:t/>
            </a:r>
          </a:p>
          <a:p>
            <a:pPr algn="l"/>
            <a:r>
              <a:rPr sz="900" b="0" i="0">
                <a:solidFill>
                  <a:srgbClr val="ECF0F1"/>
                </a:solidFill>
              </a:rPr>
              <a:t>If Python uses wrong dims at ingest, RAG retrieval</a:t>
            </a:r>
          </a:p>
          <a:p>
            <a:pPr algn="l"/>
            <a:r>
              <a:rPr sz="900" b="0" i="0">
                <a:solidFill>
                  <a:srgbClr val="ECF0F1"/>
                </a:solidFill>
              </a:rPr>
              <a:t>returns garbage or crashes with dim mismatch error.</a:t>
            </a:r>
          </a:p>
          <a:p>
            <a:pPr algn="l"/>
            <a:r>
              <a:rPr sz="900" b="0" i="0">
                <a:solidFill>
                  <a:srgbClr val="ECF0F1"/>
                </a:solidFill>
              </a:rPr>
              <a:t>This column MUST exist and be read before any embed call.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Block 4 — Vector DB Design (pgvector)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CB"/>
                </a:solidFill>
              </a:rPr>
              <a:t>Dimension-awareness is non-negotiable for multi-tenant RAG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11539728" cy="603504"/>
          </a:xfrm>
          <a:prstGeom prst="rect">
            <a:avLst/>
          </a:prstGeom>
          <a:solidFill>
            <a:srgbClr val="3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444752"/>
            <a:ext cx="11173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Problem: pgvector requires vector(N) with fixed N at column creation. Azure embedding = 3072 dims. Ollama = 768 dims. Cannot mix in one column without a clear strategy.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48840"/>
            <a:ext cx="3749039" cy="4315968"/>
          </a:xfrm>
          <a:prstGeom prst="rect">
            <a:avLst/>
          </a:prstGeom>
          <a:solidFill>
            <a:srgbClr val="1A355E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148840"/>
            <a:ext cx="3749039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176272"/>
            <a:ext cx="358444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Option A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Single column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+ pad/truncate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07792"/>
            <a:ext cx="3520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CF0F1"/>
                </a:solidFill>
              </a:rPr>
              <a:t>• All stored at max 3072 dims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3520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CF0F1"/>
                </a:solidFill>
              </a:rPr>
              <a:t>• Smaller model padded with zeros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24528"/>
            <a:ext cx="3520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CF0F1"/>
                </a:solidFill>
              </a:rPr>
              <a:t>• Padding distorts cosine similarity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82896"/>
            <a:ext cx="3520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CF0F1"/>
                </a:solidFill>
              </a:rPr>
              <a:t>• Query accuracy degrades silently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41264"/>
            <a:ext cx="3520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CF0F1"/>
                </a:solidFill>
              </a:rPr>
              <a:t>• Hard to debug — wrong results no error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6181344"/>
            <a:ext cx="128016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6208776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AVOID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2148840"/>
            <a:ext cx="3749039" cy="4315968"/>
          </a:xfrm>
          <a:prstGeom prst="rect">
            <a:avLst/>
          </a:prstGeom>
          <a:solidFill>
            <a:srgbClr val="1A355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79" y="2148840"/>
            <a:ext cx="3749039" cy="6583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19" y="2176272"/>
            <a:ext cx="358444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Option B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Two columns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(Recommended)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907792"/>
            <a:ext cx="3520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CF0F1"/>
                </a:solidFill>
              </a:rPr>
              <a:t>• embedding_768  vector(768)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566160"/>
            <a:ext cx="3520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CF0F1"/>
                </a:solidFill>
              </a:rPr>
              <a:t>• embedding_3072 vector(3072)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224528"/>
            <a:ext cx="3520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CF0F1"/>
                </a:solidFill>
              </a:rPr>
              <a:t>• Domain config picks correct column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882896"/>
            <a:ext cx="3520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CF0F1"/>
                </a:solidFill>
              </a:rPr>
              <a:t>• No padding, no distortion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541264"/>
            <a:ext cx="3520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CF0F1"/>
                </a:solidFill>
              </a:rPr>
              <a:t>• RAG query uses same column as ingest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32119" y="6181344"/>
            <a:ext cx="128016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39" y="6208776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USE THIS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19" y="2148840"/>
            <a:ext cx="3749039" cy="4315968"/>
          </a:xfrm>
          <a:prstGeom prst="rect">
            <a:avLst/>
          </a:prstGeom>
          <a:solidFill>
            <a:srgbClr val="1A355E"/>
          </a:solidFill>
          <a:ln w="2540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19" y="2148840"/>
            <a:ext cx="3749039" cy="658368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59" y="2176272"/>
            <a:ext cx="358444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Option C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Separate tables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per dim tier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907792"/>
            <a:ext cx="3520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CF0F1"/>
                </a:solidFill>
              </a:rPr>
              <a:t>• document_chunks_768 table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566160"/>
            <a:ext cx="3520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CF0F1"/>
                </a:solidFill>
              </a:rPr>
              <a:t>• document_chunks_3072 table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224528"/>
            <a:ext cx="3520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CF0F1"/>
                </a:solidFill>
              </a:rPr>
              <a:t>• Cleanest isolation per provider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882896"/>
            <a:ext cx="3520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CF0F1"/>
                </a:solidFill>
              </a:rPr>
              <a:t>• More tables but simpler columns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541264"/>
            <a:ext cx="3520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CF0F1"/>
                </a:solidFill>
              </a:rPr>
              <a:t>• Query joins correct table per domain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09759" y="6181344"/>
            <a:ext cx="1280160" cy="27432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5480" y="6208776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VALID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6492240"/>
            <a:ext cx="11539728" cy="2743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537960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C2CB"/>
                </a:solidFill>
              </a:rPr>
              <a:t>Implementation: domains.ai_embedding_dimensions → Python reads → writes to embedding_768 or embedding_3072 → RAG uses same column → perfect similarity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Block 5 — Data Schema &amp; Tenant Isolation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CB"/>
                </a:solidFill>
              </a:rPr>
              <a:t>Shared tables, cube_id as the isolation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CB"/>
                </a:solidFill>
              </a:rPr>
              <a:t>Ownership Hierarchy: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2377440" cy="804672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22128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domains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LedgerLM</a:t>
            </a:r>
          </a:p>
          <a:p>
            <a:pPr algn="ctr"/>
            <a:r>
              <a:rPr sz="850" b="0" i="0">
                <a:solidFill>
                  <a:srgbClr val="FFFFFF"/>
                </a:solidFill>
              </a:rPr>
              <a:t>tenant record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737360"/>
            <a:ext cx="2377440" cy="80467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764792"/>
            <a:ext cx="22128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companies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103120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Bosch GmbH</a:t>
            </a:r>
          </a:p>
          <a:p>
            <a:pPr algn="ctr"/>
            <a:r>
              <a:rPr sz="850" b="0" i="0">
                <a:solidFill>
                  <a:srgbClr val="FFFFFF"/>
                </a:solidFill>
              </a:rPr>
              <a:t>corp entity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737360"/>
            <a:ext cx="2377440" cy="80467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764792"/>
            <a:ext cx="22128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cubes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103120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Data workspace</a:t>
            </a:r>
          </a:p>
          <a:p>
            <a:pPr algn="ctr"/>
            <a:r>
              <a:rPr sz="850" b="0" i="0">
                <a:solidFill>
                  <a:srgbClr val="FFFFFF"/>
                </a:solidFill>
              </a:rPr>
              <a:t>Jan–Feb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737360"/>
            <a:ext cx="2377440" cy="8046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1764792"/>
            <a:ext cx="22128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cube_fact_data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103120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All rows filtered</a:t>
            </a:r>
          </a:p>
          <a:p>
            <a:pPr algn="ctr"/>
            <a:r>
              <a:rPr sz="850" b="0" i="0">
                <a:solidFill>
                  <a:srgbClr val="FFFFFF"/>
                </a:solidFill>
              </a:rPr>
              <a:t>by cube_id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029968"/>
            <a:ext cx="256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DC3C7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2029968"/>
            <a:ext cx="256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DC3C7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029968"/>
            <a:ext cx="256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DC3C7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277977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2CB"/>
                </a:solidFill>
              </a:rPr>
              <a:t>What keeps data safe today: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1546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CF0F1"/>
                </a:solidFill>
              </a:rPr>
              <a:t>✓  Every query includes cube_id in WHERE clause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666744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CF0F1"/>
                </a:solidFill>
              </a:rPr>
              <a:t>✓  cube_id links to cubes.domain_id → authenticated domain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17880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CF0F1"/>
                </a:solidFill>
              </a:rPr>
              <a:t>✓  User login is scoped to their domain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69087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CF0F1"/>
                </a:solidFill>
              </a:rPr>
              <a:t>✓  Python compile_sql receives cube_id from auth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202936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CF0F1"/>
                </a:solidFill>
              </a:rPr>
              <a:t>✓  Cube is created under a domain — no cross-domain assignment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77977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67E22"/>
                </a:solidFill>
              </a:rPr>
              <a:t>Optional hardening (future):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1546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DC3C7"/>
                </a:solidFill>
              </a:rPr>
              <a:t>◎  Postgres Row-Level Security (RLS) policy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666744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DC3C7"/>
                </a:solidFill>
              </a:rPr>
              <a:t>◎  Policy: user SELECTs only rows where cube_id IN (their cubes)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17880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DC3C7"/>
                </a:solidFill>
              </a:rPr>
              <a:t>◎  Enforced at DB level — code bugs cannot leak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69087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DC3C7"/>
                </a:solidFill>
              </a:rPr>
              <a:t>◎  Audit log: who queried what + timestamp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202936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DC3C7"/>
                </a:solidFill>
              </a:rPr>
              <a:t>◎  Anomaly detection: flag cross-cube access attempts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897880"/>
            <a:ext cx="11539728" cy="768096"/>
          </a:xfrm>
          <a:prstGeom prst="rect">
            <a:avLst/>
          </a:prstGeom>
          <a:solidFill>
            <a:srgbClr val="1A355E"/>
          </a:solidFill>
          <a:ln w="1270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97103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CF0F1"/>
                </a:solidFill>
              </a:rPr>
              <a:t>Shared tables (all tenants):  cube_fact_data  ·  cube_plan_data  ·  document_chunks  ·  cubes  ·  domains  ·  users  ·  cube_query_jobs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C2CB"/>
                </a:solidFill>
              </a:rPr>
              <a:t>Isolation boundary:  cube_id  (UUID → cubes.id → cubes.domain_id → must match authenticated user domain)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Block 6 — SQL Logic Routing  (data_schema_type)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CB"/>
                </a:solidFill>
              </a:rPr>
              <a:t>Replace hardcoded name checks with a single DB config column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TODAY  (hardcoded)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AFTER  (DB-driven)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325880"/>
            <a:ext cx="54864" cy="537667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783080"/>
            <a:ext cx="5669280" cy="1600200"/>
          </a:xfrm>
          <a:prstGeom prst="rect">
            <a:avLst/>
          </a:prstGeom>
          <a:solidFill>
            <a:srgbClr val="2C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28800"/>
            <a:ext cx="5486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CC70"/>
                </a:solidFill>
              </a:rPr>
              <a:t>COMPANY_CONFIG =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39112"/>
            <a:ext cx="5486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CC70"/>
                </a:solidFill>
              </a:rPr>
              <a:t>  'bosch': { 'domains': ['in.bosch.com'] },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249424"/>
            <a:ext cx="5486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CC70"/>
                </a:solidFill>
              </a:rPr>
              <a:t>  'nemko': { 'domains': ['nemko.com']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459736"/>
            <a:ext cx="5486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CC70"/>
                </a:solidFill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670048"/>
            <a:ext cx="5486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0392B"/>
                </a:solidFill>
              </a:rPr>
              <a:t>def is_nemko_domain(domain):  # name string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880360"/>
            <a:ext cx="5486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0392B"/>
                </a:solidFill>
              </a:rPr>
              <a:t>    return 'nemko' in domain  # hardcoded!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090672"/>
            <a:ext cx="5486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0392B"/>
                </a:solidFill>
              </a:rPr>
              <a:t>nemko_pl_cube_id = '663678fc...'  # UUID x4!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4747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Problems: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813048"/>
            <a:ext cx="5577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✗  New client requires Python code edit + redeploy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379976"/>
            <a:ext cx="5577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✗  Nemko cube_id hardcoded UUID in 4 Python locations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946904"/>
            <a:ext cx="5577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✗  Nemko-style data impossible for a new client without code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513831"/>
            <a:ext cx="5577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✗  Everything unknown defaults to Bosch — silent mis-routing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783080"/>
            <a:ext cx="5650992" cy="1188720"/>
          </a:xfrm>
          <a:prstGeom prst="rect">
            <a:avLst/>
          </a:prstGeom>
          <a:solidFill>
            <a:srgbClr val="0D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82880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FFC0"/>
                </a:solidFill>
              </a:rPr>
              <a:t>schema_type = domain_config['data_schema_type']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10312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FFC0"/>
                </a:solidFill>
              </a:rPr>
              <a:t># 'bosch' | 'nemko' | 'generic'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37744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FFA0"/>
                </a:solidFill>
              </a:rPr>
              <a:t>cube_id = domain_config['cube_id']  # from 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65176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FFC0"/>
                </a:solidFill>
              </a:rPr>
              <a:t># Route to SQL builder by schema_type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0906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Benefits: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429000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✓  New client → set data_schema_type in Super Admin → no code change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005072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✓  Cube ID always from DB — zero hardcoded UUIDs in Python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581144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✓  Another client with Bosch-style data: just set type = "bosch"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5157216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✓  "generic" type → base SQL builder, no custom logic needed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733288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✓  Remove COMPANY_CONFIG dict entirely from codebase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Blocks 7 &amp; 8 — Branding + Deployment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CB"/>
                </a:solidFill>
              </a:rPr>
              <a:t>What clients see and how the app is delivered to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669280" cy="5285232"/>
          </a:xfrm>
          <a:prstGeom prst="rect">
            <a:avLst/>
          </a:prstGeom>
          <a:solidFill>
            <a:srgbClr val="1A355E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5669280" cy="50292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399032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Block 7  —  Per-Domain Branding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94767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DC3C7"/>
                </a:solidFill>
              </a:rPr>
              <a:t>New DB columns needed (all currently missing):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5394960" cy="57607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322576"/>
            <a:ext cx="19933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CB"/>
                </a:solidFill>
              </a:rPr>
              <a:t>branding_name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587752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DC3C7"/>
                </a:solidFill>
              </a:rPr>
              <a:t>Bosch Financial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24231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Display name — login page + app header + emails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44368"/>
            <a:ext cx="5394960" cy="57607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980944"/>
            <a:ext cx="19933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CB"/>
                </a:solidFill>
              </a:rPr>
              <a:t>branding_logo_url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246120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DC3C7"/>
                </a:solidFill>
              </a:rPr>
              <a:t>https://cdn.../bosch-logo.png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3472" y="3081527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Client logo — replaces LedgerLM logo everywhere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02736"/>
            <a:ext cx="5394960" cy="57607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639312"/>
            <a:ext cx="19933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CB"/>
                </a:solidFill>
              </a:rPr>
              <a:t>branding_primary_color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904487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DC3C7"/>
                </a:solidFill>
              </a:rPr>
              <a:t>#005691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33472" y="373989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Primary accent colour in UI (future)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61104"/>
            <a:ext cx="5394960" cy="57607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297680"/>
            <a:ext cx="19933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CB"/>
                </a:solidFill>
              </a:rPr>
              <a:t>favicon_url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562856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DC3C7"/>
                </a:solidFill>
              </a:rPr>
              <a:t>https://cdn.../favicon.ico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33472" y="439826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Browser tab icon (future)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497433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DC3C7"/>
                </a:solidFill>
              </a:rPr>
              <a:t>Where branding appears: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28523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→ Login page — logo + display name (instead of LedgerLM)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61441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→ App header — client logo + name replaces platform logo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436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→ OTP email — from_name + logo in email body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27278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→ Browser tab — "{client} | LedgerLM" title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2" y="1371600"/>
            <a:ext cx="5669280" cy="5285232"/>
          </a:xfrm>
          <a:prstGeom prst="rect">
            <a:avLst/>
          </a:prstGeom>
          <a:solidFill>
            <a:srgbClr val="1A355E"/>
          </a:solidFill>
          <a:ln w="1905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9632" y="1371600"/>
            <a:ext cx="5669280" cy="50292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1399032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Block 8  —  Deployment Modes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36792" y="1965960"/>
            <a:ext cx="5394960" cy="2212848"/>
          </a:xfrm>
          <a:prstGeom prst="rect">
            <a:avLst/>
          </a:prstGeom>
          <a:solidFill>
            <a:srgbClr val="0D1D35"/>
          </a:solidFill>
          <a:ln w="1270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20116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2CB"/>
                </a:solidFill>
              </a:rPr>
              <a:t>SaaS  (Shared Infrastructure)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3774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Nginx routes by subdomain → Host header → middleware sets domain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280720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bosch.ledgerlm.ai and nemko.ledgerlm.ai on same server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23697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All tenant data in Matasma DB — fastest to provision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6674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plan_type = "saas"  ·  deployment_url column in domains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36792" y="4315968"/>
            <a:ext cx="5394960" cy="2212848"/>
          </a:xfrm>
          <a:prstGeom prst="rect">
            <a:avLst/>
          </a:prstGeom>
          <a:solidFill>
            <a:srgbClr val="1A1005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436168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67E22"/>
                </a:solidFill>
              </a:rPr>
              <a:t>Self-Hosted  (Client Infrastructure)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7365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Docker image deployed on Bosch / Nemko own servers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5166359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Client controls their DB + Azure OpenAI — full data sovereignty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596127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Data never leaves client infrastructure — regulatory compliance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602589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plan_type = "self_hosted"  ·  deployment_url = client URL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Block 9 — Super Admin Portal  (Matasma Control Plane)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CB"/>
                </a:solidFill>
              </a:rPr>
              <a:t>One form at ledgerlm.ai to configure every tenant completely — no code changes needed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2834640" cy="2487168"/>
          </a:xfrm>
          <a:prstGeom prst="rect">
            <a:avLst/>
          </a:prstGeom>
          <a:solidFill>
            <a:srgbClr val="1A355E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2834640" cy="4572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435608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920240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Domain name / display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395728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Slug (URL prefix)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871216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Status — active/trial/suspended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3346704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Plan type + deployment URL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371600"/>
            <a:ext cx="2834640" cy="2487168"/>
          </a:xfrm>
          <a:prstGeom prst="rect">
            <a:avLst/>
          </a:prstGeom>
          <a:solidFill>
            <a:srgbClr val="1A355E"/>
          </a:solidFill>
          <a:ln w="1905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371600"/>
            <a:ext cx="2834640" cy="45720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435608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1920240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Login method (OTP / SSO / Google)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2395728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SSO tenant_id + client_id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2" y="2871216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Session expiry 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3346704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Allowed email domains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371600"/>
            <a:ext cx="2834640" cy="2487168"/>
          </a:xfrm>
          <a:prstGeom prst="rect">
            <a:avLst/>
          </a:prstGeom>
          <a:solidFill>
            <a:srgbClr val="1A355E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371600"/>
            <a:ext cx="283464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79" y="1435608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SMTP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1920240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Host / port / credentials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395728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from_address + from_name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871216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Test email send button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3346704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392B"/>
                </a:solidFill>
              </a:rPr>
              <a:t>• STATUS: MISSING in schema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1371600"/>
            <a:ext cx="2834640" cy="2487168"/>
          </a:xfrm>
          <a:prstGeom prst="rect">
            <a:avLst/>
          </a:prstGeom>
          <a:solidFill>
            <a:srgbClr val="1A355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1371600"/>
            <a:ext cx="283464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1435608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AI Chat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4312" y="1920240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Provider selection dropdown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4312" y="2395728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Endpoint + encrypted API key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4312" y="2871216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Chat model + API version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54312" y="3346704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Custom system prompt textarea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005072"/>
            <a:ext cx="2834640" cy="2487168"/>
          </a:xfrm>
          <a:prstGeom prst="rect">
            <a:avLst/>
          </a:prstGeom>
          <a:solidFill>
            <a:srgbClr val="1A355E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4005072"/>
            <a:ext cx="2834640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79" y="4069080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AI Embed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4553712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Embedding model name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" y="5029200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API version (Azure only)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" y="5504688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Dimensions: 768/1536/3072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" y="5980175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392B"/>
                </a:solidFill>
              </a:rPr>
              <a:t>• STATUS: dimensions MISSING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4005072"/>
            <a:ext cx="2834640" cy="2487168"/>
          </a:xfrm>
          <a:prstGeom prst="rect">
            <a:avLst/>
          </a:prstGeom>
          <a:solidFill>
            <a:srgbClr val="1A355E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91840" y="4005072"/>
            <a:ext cx="2834640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80" y="4069080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10712" y="4553712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data_schema_type picker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10712" y="5029200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View assigned cubes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10712" y="5504688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Trigger data re-ingestion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10712" y="5980175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Ingestion history log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4005072"/>
            <a:ext cx="2834640" cy="2487168"/>
          </a:xfrm>
          <a:prstGeom prst="rect">
            <a:avLst/>
          </a:prstGeom>
          <a:solidFill>
            <a:srgbClr val="1A355E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4005072"/>
            <a:ext cx="2834640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79" y="4069080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Branding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82512" y="4553712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Display name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82512" y="5029200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Logo URL + preview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82512" y="5504688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Primary colour picker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82512" y="5980175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Preview branded login page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35440" y="4005072"/>
            <a:ext cx="2834640" cy="2487168"/>
          </a:xfrm>
          <a:prstGeom prst="rect">
            <a:avLst/>
          </a:prstGeom>
          <a:solidFill>
            <a:srgbClr val="1A355E"/>
          </a:solidFill>
          <a:ln w="190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235440" y="4005072"/>
            <a:ext cx="2834640" cy="457200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4069080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54312" y="4553712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Mode: SaaS / self-hosted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54312" y="5029200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Deployment URL config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54312" y="5504688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Health check status dot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54312" y="5980175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Active users / last seen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Block 10 — Data Ingestion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CB"/>
                </a:solidFill>
              </a:rPr>
              <a:t>Domain config must flow through every step — from parse to embed to 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89888"/>
            <a:ext cx="1325880" cy="621792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417320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1  Auth &amp;</a:t>
            </a:r>
          </a:p>
          <a:p>
            <a:pPr algn="ctr"/>
            <a:r>
              <a:rPr sz="950" b="1" i="0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673352" y="1389888"/>
            <a:ext cx="10168128" cy="621792"/>
          </a:xfrm>
          <a:prstGeom prst="rect">
            <a:avLst/>
          </a:prstGeom>
          <a:solidFill>
            <a:srgbClr val="1A355E"/>
          </a:solidFill>
          <a:ln w="9525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2" y="145389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User uploads file → authenticated → domain_id → load full domain config from 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48256"/>
            <a:ext cx="1325880" cy="62179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075688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2  Data</a:t>
            </a:r>
          </a:p>
          <a:p>
            <a:pPr algn="ctr"/>
            <a:r>
              <a:rPr sz="950" b="1" i="0">
                <a:solidFill>
                  <a:srgbClr val="FFFFFF"/>
                </a:solidFill>
              </a:rPr>
              <a:t>Parsing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73352" y="2048256"/>
            <a:ext cx="10168128" cy="621792"/>
          </a:xfrm>
          <a:prstGeom prst="rect">
            <a:avLst/>
          </a:prstGeom>
          <a:solidFill>
            <a:srgbClr val="1A355E"/>
          </a:solidFill>
          <a:ln w="9525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64792" y="2112264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Parse Excel / Anaplan based on data_schema_type  (Bosch columns differ from Nemko columns)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706624"/>
            <a:ext cx="1325880" cy="6217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734056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3  Fact</a:t>
            </a:r>
          </a:p>
          <a:p>
            <a:pPr algn="ctr"/>
            <a:r>
              <a:rPr sz="950" b="1" i="0">
                <a:solidFill>
                  <a:srgbClr val="FFFFFF"/>
                </a:solidFill>
              </a:rPr>
              <a:t>Storage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73352" y="2706624"/>
            <a:ext cx="10168128" cy="621792"/>
          </a:xfrm>
          <a:prstGeom prst="rect">
            <a:avLst/>
          </a:prstGeom>
          <a:solidFill>
            <a:srgbClr val="1A355E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64792" y="277063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INSERT rows into cube_fact_data with cube_id from domain config — isolation guaranteed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364992"/>
            <a:ext cx="1325880" cy="62179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3392424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4  Text</a:t>
            </a:r>
          </a:p>
          <a:p>
            <a:pPr algn="ctr"/>
            <a:r>
              <a:rPr sz="950" b="1" i="0">
                <a:solidFill>
                  <a:srgbClr val="FFFFFF"/>
                </a:solidFill>
              </a:rPr>
              <a:t>Chunking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73352" y="3364992"/>
            <a:ext cx="10168128" cy="621792"/>
          </a:xfrm>
          <a:prstGeom prst="rect">
            <a:avLst/>
          </a:prstGeom>
          <a:solidFill>
            <a:srgbClr val="1A355E"/>
          </a:solidFill>
          <a:ln w="952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64792" y="34290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Extract text from uploaded document → split into overlapping chunks for RAG retrieval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023360"/>
            <a:ext cx="1325880" cy="6217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4050792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5  Embedding</a:t>
            </a:r>
          </a:p>
          <a:p>
            <a:pPr algn="ctr"/>
            <a:r>
              <a:rPr sz="950" b="1" i="0">
                <a:solidFill>
                  <a:srgbClr val="FFFFFF"/>
                </a:solidFill>
              </a:rPr>
              <a:t>Generation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73352" y="4023360"/>
            <a:ext cx="10168128" cy="621792"/>
          </a:xfrm>
          <a:prstGeom prst="rect">
            <a:avLst/>
          </a:prstGeom>
          <a:solidFill>
            <a:srgbClr val="1A355E"/>
          </a:solidFill>
          <a:ln w="9525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64792" y="40873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Call get_embeddings(ai_config) — ai_config from domain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33425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7E22"/>
                </a:solidFill>
              </a:rPr>
              <a:t>→ Azure (3072 dims) or Ollama (768 dims)  ·  CURRENTLY: dims hardcoded to 3072 in code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681727"/>
            <a:ext cx="1325880" cy="62179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4709159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6  Vector</a:t>
            </a:r>
          </a:p>
          <a:p>
            <a:pPr algn="ctr"/>
            <a:r>
              <a:rPr sz="950" b="1" i="0">
                <a:solidFill>
                  <a:srgbClr val="FFFFFF"/>
                </a:solidFill>
              </a:rPr>
              <a:t>Storage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73352" y="4681727"/>
            <a:ext cx="10168128" cy="621792"/>
          </a:xfrm>
          <a:prstGeom prst="rect">
            <a:avLst/>
          </a:prstGeom>
          <a:solidFill>
            <a:srgbClr val="1A355E"/>
          </a:solidFill>
          <a:ln w="9525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64792" y="474573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Write to correct pgvector column based on ai_embedding_dimensions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92623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7E22"/>
                </a:solidFill>
              </a:rPr>
              <a:t>CURRENTLY: single column only — hardcoded dims — breaks for new providers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340096"/>
            <a:ext cx="1325880" cy="62179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5367528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7  Index</a:t>
            </a:r>
          </a:p>
          <a:p>
            <a:pPr algn="ctr"/>
            <a:r>
              <a:rPr sz="950" b="1" i="0">
                <a:solidFill>
                  <a:srgbClr val="FFFFFF"/>
                </a:solidFill>
              </a:rPr>
              <a:t>Update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73352" y="5340096"/>
            <a:ext cx="10168128" cy="621792"/>
          </a:xfrm>
          <a:prstGeom prst="rect">
            <a:avLst/>
          </a:prstGeom>
          <a:solidFill>
            <a:srgbClr val="1A355E"/>
          </a:solidFill>
          <a:ln w="9525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64792" y="5404104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Update cube metadata → mark ingestion complete → clear domain config cache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End-to-End Flow — New Client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CB"/>
                </a:solidFill>
              </a:rPr>
              <a:t>From "we want LedgerLM" to live AI queries — all driven by the single domain DB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12848" y="2542032"/>
            <a:ext cx="256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DC3C7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371600"/>
            <a:ext cx="1920240" cy="4572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1399032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2A"/>
                </a:solidFill>
              </a:rPr>
              <a:t>Step 1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828800"/>
            <a:ext cx="1920240" cy="749808"/>
          </a:xfrm>
          <a:prstGeom prst="rect">
            <a:avLst/>
          </a:prstGeom>
          <a:solidFill>
            <a:srgbClr val="1A355E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874519"/>
            <a:ext cx="1801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2CB"/>
                </a:solidFill>
              </a:rPr>
              <a:t>Super Admin</a:t>
            </a:r>
          </a:p>
          <a:p>
            <a:pPr algn="ctr"/>
            <a:r>
              <a:rPr sz="900" b="1" i="0">
                <a:solidFill>
                  <a:srgbClr val="00C2CB"/>
                </a:solidFill>
              </a:rPr>
              <a:t>Fills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2578608"/>
            <a:ext cx="1920240" cy="2743200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2633472"/>
            <a:ext cx="1755648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At ledgerlm.ai</a:t>
            </a:r>
          </a:p>
          <a:p>
            <a:pPr algn="l"/>
            <a:r>
              <a:rPr sz="850" b="0" i="0">
                <a:solidFill>
                  <a:srgbClr val="ECF0F1"/>
                </a:solidFill>
              </a:rPr>
              <a:t>Name, slug,</a:t>
            </a:r>
          </a:p>
          <a:p>
            <a:pPr algn="l"/>
            <a:r>
              <a:rPr sz="850" b="0" i="0">
                <a:solidFill>
                  <a:srgbClr val="ECF0F1"/>
                </a:solidFill>
              </a:rPr>
              <a:t>auth method,</a:t>
            </a:r>
          </a:p>
          <a:p>
            <a:pPr algn="l"/>
            <a:r>
              <a:rPr sz="850" b="0" i="0">
                <a:solidFill>
                  <a:srgbClr val="ECF0F1"/>
                </a:solidFill>
              </a:rPr>
              <a:t>AI config,</a:t>
            </a:r>
          </a:p>
          <a:p>
            <a:pPr algn="l"/>
            <a:r>
              <a:rPr sz="850" b="0" i="0">
                <a:solidFill>
                  <a:srgbClr val="ECF0F1"/>
                </a:solidFill>
              </a:rPr>
              <a:t>dimensions,</a:t>
            </a:r>
          </a:p>
          <a:p>
            <a:pPr algn="l"/>
            <a:r>
              <a:rPr sz="850" b="0" i="0">
                <a:solidFill>
                  <a:srgbClr val="ECF0F1"/>
                </a:solidFill>
              </a:rPr>
              <a:t>schema type,</a:t>
            </a:r>
          </a:p>
          <a:p>
            <a:pPr algn="l"/>
            <a:r>
              <a:rPr sz="850" b="0" i="0">
                <a:solidFill>
                  <a:srgbClr val="ECF0F1"/>
                </a:solidFill>
              </a:rPr>
              <a:t>branding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542032"/>
            <a:ext cx="256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DC3C7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9424" y="1371600"/>
            <a:ext cx="1920240" cy="45720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95144" y="1399032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2A"/>
                </a:solidFill>
              </a:rPr>
              <a:t>Step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9424" y="1828800"/>
            <a:ext cx="1920240" cy="749808"/>
          </a:xfrm>
          <a:prstGeom prst="rect">
            <a:avLst/>
          </a:prstGeom>
          <a:solidFill>
            <a:srgbClr val="1A355E"/>
          </a:solidFill>
          <a:ln w="1905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13432" y="1874519"/>
            <a:ext cx="1801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6FBF"/>
                </a:solidFill>
              </a:rPr>
              <a:t>Domain Row</a:t>
            </a:r>
          </a:p>
          <a:p>
            <a:pPr algn="ctr"/>
            <a:r>
              <a:rPr sz="900" b="1" i="0">
                <a:solidFill>
                  <a:srgbClr val="1E6FBF"/>
                </a:solidFill>
              </a:rPr>
              <a:t>Inserted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9424" y="2578608"/>
            <a:ext cx="1920240" cy="2743200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40864" y="2633472"/>
            <a:ext cx="1755648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One domains</a:t>
            </a:r>
          </a:p>
          <a:p>
            <a:pPr algn="l"/>
            <a:r>
              <a:rPr sz="850" b="0" i="0">
                <a:solidFill>
                  <a:srgbClr val="ECF0F1"/>
                </a:solidFill>
              </a:rPr>
              <a:t>table record</a:t>
            </a:r>
          </a:p>
          <a:p>
            <a:pPr algn="l"/>
            <a:r>
              <a:rPr sz="850" b="0" i="0">
                <a:solidFill>
                  <a:srgbClr val="ECF0F1"/>
                </a:solidFill>
              </a:rPr>
              <a:t>All config here</a:t>
            </a:r>
          </a:p>
          <a:p>
            <a:pPr algn="l"/>
            <a:r>
              <a:rPr sz="850" b="0" i="0">
                <a:solidFill>
                  <a:srgbClr val="ECF0F1"/>
                </a:solidFill>
              </a:rPr>
              <a:t>No code deploy</a:t>
            </a:r>
          </a:p>
          <a:p>
            <a:pPr algn="l"/>
            <a:r>
              <a:rPr sz="850" b="0" i="0">
                <a:solidFill>
                  <a:srgbClr val="ECF0F1"/>
                </a:solidFill>
              </a:rPr>
              <a:t>No restart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2542032"/>
            <a:ext cx="256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DC3C7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42816" y="1371600"/>
            <a:ext cx="192024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88536" y="1399032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2A"/>
                </a:solidFill>
              </a:rPr>
              <a:t>Step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42816" y="1828800"/>
            <a:ext cx="1920240" cy="749808"/>
          </a:xfrm>
          <a:prstGeom prst="rect">
            <a:avLst/>
          </a:prstGeom>
          <a:solidFill>
            <a:srgbClr val="1A355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06824" y="1874519"/>
            <a:ext cx="1801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</a:rPr>
              <a:t>Client Admin</a:t>
            </a:r>
          </a:p>
          <a:p>
            <a:pPr algn="ctr"/>
            <a:r>
              <a:rPr sz="900" b="1" i="0">
                <a:solidFill>
                  <a:srgbClr val="27AE60"/>
                </a:solidFill>
              </a:rPr>
              <a:t>Invited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2816" y="2578608"/>
            <a:ext cx="1920240" cy="2743200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34256" y="2633472"/>
            <a:ext cx="1755648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Email via domain</a:t>
            </a:r>
          </a:p>
          <a:p>
            <a:pPr algn="l"/>
            <a:r>
              <a:rPr sz="850" b="0" i="0">
                <a:solidFill>
                  <a:srgbClr val="ECF0F1"/>
                </a:solidFill>
              </a:rPr>
              <a:t>SMTP config</a:t>
            </a:r>
          </a:p>
          <a:p>
            <a:pPr algn="l"/>
            <a:r>
              <a:rPr sz="850" b="0" i="0">
                <a:solidFill>
                  <a:srgbClr val="ECF0F1"/>
                </a:solidFill>
              </a:rPr>
              <a:t>Branded logo</a:t>
            </a:r>
          </a:p>
          <a:p>
            <a:pPr algn="l"/>
            <a:r>
              <a:rPr sz="850" b="0" i="0">
                <a:solidFill>
                  <a:srgbClr val="ECF0F1"/>
                </a:solidFill>
              </a:rPr>
              <a:t>+ name</a:t>
            </a:r>
          </a:p>
          <a:p>
            <a:pPr algn="l"/>
            <a:r>
              <a:rPr sz="850" b="0" i="0">
                <a:solidFill>
                  <a:srgbClr val="ECF0F1"/>
                </a:solidFill>
              </a:rPr>
              <a:t>SSO link auto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4" y="2542032"/>
            <a:ext cx="256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DC3C7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8" y="1371600"/>
            <a:ext cx="1920240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8" y="1399032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2A"/>
                </a:solidFill>
              </a:rPr>
              <a:t>Step 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6208" y="1828800"/>
            <a:ext cx="1920240" cy="749808"/>
          </a:xfrm>
          <a:prstGeom prst="rect">
            <a:avLst/>
          </a:prstGeom>
          <a:solidFill>
            <a:srgbClr val="1A355E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0216" y="1874519"/>
            <a:ext cx="1801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39C12"/>
                </a:solidFill>
              </a:rPr>
              <a:t>Data</a:t>
            </a:r>
          </a:p>
          <a:p>
            <a:pPr algn="ctr"/>
            <a:r>
              <a:rPr sz="900" b="1" i="0">
                <a:solidFill>
                  <a:srgbClr val="F39C12"/>
                </a:solidFill>
              </a:rPr>
              <a:t>Uploaded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6208" y="2578608"/>
            <a:ext cx="1920240" cy="2743200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2633472"/>
            <a:ext cx="1755648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Excel / Anaplan</a:t>
            </a:r>
          </a:p>
          <a:p>
            <a:pPr algn="l"/>
            <a:r>
              <a:rPr sz="850" b="0" i="0">
                <a:solidFill>
                  <a:srgbClr val="ECF0F1"/>
                </a:solidFill>
              </a:rPr>
              <a:t>Parsed by</a:t>
            </a:r>
          </a:p>
          <a:p>
            <a:pPr algn="l"/>
            <a:r>
              <a:rPr sz="850" b="0" i="0">
                <a:solidFill>
                  <a:srgbClr val="ECF0F1"/>
                </a:solidFill>
              </a:rPr>
              <a:t>schema_type</a:t>
            </a:r>
          </a:p>
          <a:p>
            <a:pPr algn="l"/>
            <a:r>
              <a:rPr sz="850" b="0" i="0">
                <a:solidFill>
                  <a:srgbClr val="ECF0F1"/>
                </a:solidFill>
              </a:rPr>
              <a:t>Embedded at</a:t>
            </a:r>
          </a:p>
          <a:p>
            <a:pPr algn="l"/>
            <a:r>
              <a:rPr sz="850" b="0" i="0">
                <a:solidFill>
                  <a:srgbClr val="ECF0F1"/>
                </a:solidFill>
              </a:rPr>
              <a:t>correct dims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86416" y="2542032"/>
            <a:ext cx="256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DC3C7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1371600"/>
            <a:ext cx="192024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1399032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2A"/>
                </a:solidFill>
              </a:rPr>
              <a:t>Step 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1828800"/>
            <a:ext cx="1920240" cy="749808"/>
          </a:xfrm>
          <a:prstGeom prst="rect">
            <a:avLst/>
          </a:prstGeom>
          <a:solidFill>
            <a:srgbClr val="1A355E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93608" y="1874519"/>
            <a:ext cx="1801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67E22"/>
                </a:solidFill>
              </a:rPr>
              <a:t>Users</a:t>
            </a:r>
          </a:p>
          <a:p>
            <a:pPr algn="ctr"/>
            <a:r>
              <a:rPr sz="900" b="1" i="0">
                <a:solidFill>
                  <a:srgbClr val="E67E22"/>
                </a:solidFill>
              </a:rPr>
              <a:t>Login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2578608"/>
            <a:ext cx="1920240" cy="2743200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2633472"/>
            <a:ext cx="1755648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slug.ledgerlm.ai</a:t>
            </a:r>
          </a:p>
          <a:p>
            <a:pPr algn="l"/>
            <a:r>
              <a:rPr sz="850" b="0" i="0">
                <a:solidFill>
                  <a:srgbClr val="ECF0F1"/>
                </a:solidFill>
              </a:rPr>
              <a:t>Branded login</a:t>
            </a:r>
          </a:p>
          <a:p>
            <a:pPr algn="l"/>
            <a:r>
              <a:rPr sz="850" b="0" i="0">
                <a:solidFill>
                  <a:srgbClr val="ECF0F1"/>
                </a:solidFill>
              </a:rPr>
              <a:t>OTP or SSO</a:t>
            </a:r>
          </a:p>
          <a:p>
            <a:pPr algn="l"/>
            <a:r>
              <a:rPr sz="850" b="0" i="0">
                <a:solidFill>
                  <a:srgbClr val="ECF0F1"/>
                </a:solidFill>
              </a:rPr>
              <a:t>Session scoped</a:t>
            </a:r>
          </a:p>
          <a:p>
            <a:pPr algn="l"/>
            <a:r>
              <a:rPr sz="850" b="0" i="0">
                <a:solidFill>
                  <a:srgbClr val="ECF0F1"/>
                </a:solidFill>
              </a:rPr>
              <a:t>to domain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222992" y="1371600"/>
            <a:ext cx="1920240" cy="4572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68712" y="1399032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2A"/>
                </a:solidFill>
              </a:rPr>
              <a:t>Step 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22992" y="1828800"/>
            <a:ext cx="1920240" cy="749808"/>
          </a:xfrm>
          <a:prstGeom prst="rect">
            <a:avLst/>
          </a:prstGeom>
          <a:solidFill>
            <a:srgbClr val="1A355E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87000" y="1874519"/>
            <a:ext cx="1801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2CB"/>
                </a:solidFill>
              </a:rPr>
              <a:t>AI Queries</a:t>
            </a:r>
          </a:p>
          <a:p>
            <a:pPr algn="ctr"/>
            <a:r>
              <a:rPr sz="900" b="1" i="0">
                <a:solidFill>
                  <a:srgbClr val="00C2CB"/>
                </a:solidFill>
              </a:rPr>
              <a:t>Live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22992" y="2578608"/>
            <a:ext cx="1920240" cy="2743200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14432" y="2633472"/>
            <a:ext cx="1755648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Client LLM chat</a:t>
            </a:r>
          </a:p>
          <a:p>
            <a:pPr algn="l"/>
            <a:r>
              <a:rPr sz="850" b="0" i="0">
                <a:solidFill>
                  <a:srgbClr val="ECF0F1"/>
                </a:solidFill>
              </a:rPr>
              <a:t>RAG in client</a:t>
            </a:r>
          </a:p>
          <a:p>
            <a:pPr algn="l"/>
            <a:r>
              <a:rPr sz="850" b="0" i="0">
                <a:solidFill>
                  <a:srgbClr val="ECF0F1"/>
                </a:solidFill>
              </a:rPr>
              <a:t>vector store</a:t>
            </a:r>
          </a:p>
          <a:p>
            <a:pPr algn="l"/>
            <a:r>
              <a:rPr sz="850" b="0" i="0">
                <a:solidFill>
                  <a:srgbClr val="ECF0F1"/>
                </a:solidFill>
              </a:rPr>
              <a:t>SQL via type</a:t>
            </a:r>
          </a:p>
          <a:p>
            <a:pPr algn="l"/>
            <a:r>
              <a:rPr sz="850" b="0" i="0">
                <a:solidFill>
                  <a:srgbClr val="ECF0F1"/>
                </a:solidFill>
              </a:rPr>
              <a:t>Client data only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6032" y="5440680"/>
            <a:ext cx="11667744" cy="1298448"/>
          </a:xfrm>
          <a:prstGeom prst="rect">
            <a:avLst/>
          </a:prstGeom>
          <a:solidFill>
            <a:srgbClr val="1A355E"/>
          </a:solidFill>
          <a:ln w="1270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2336" y="550468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2CB"/>
                </a:solidFill>
              </a:rPr>
              <a:t>What drives each step automatically from the domain config record: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2336" y="581558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Step 1 → single DB INSERT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15968" y="581558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Step 2 → Host header middleware → domain lookup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581558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Step 3 → smtp_host/port/from_address/from_name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2336" y="619963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Step 4 → data_schema_type + ai_embedding_dimensions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15968" y="619963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Step 5 → branding_name + branding_logo_url + auth_method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619963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• Step 6 → ai_provider + ai_chat_model + data_schema_type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Current Status — Done vs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5376672" cy="310896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417320"/>
            <a:ext cx="5248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Building Block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742432" y="1371600"/>
            <a:ext cx="1261872" cy="310896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6440" y="1417320"/>
            <a:ext cx="113385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7059168" y="1371600"/>
            <a:ext cx="4754880" cy="310896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23176" y="1417320"/>
            <a:ext cx="46268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82496"/>
            <a:ext cx="5376672" cy="30175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42432" y="1682496"/>
            <a:ext cx="1261872" cy="3017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59168" y="1682496"/>
            <a:ext cx="4754880" cy="30175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173736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Tenant identity — domains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8152" y="1737360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Partial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737360"/>
            <a:ext cx="4645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DC3C7"/>
                </a:solidFill>
              </a:rPr>
              <a:t>Missing data_schema_type, deployment_url, branding_*, smtp_* columns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011680"/>
            <a:ext cx="5376672" cy="30175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42432" y="2011680"/>
            <a:ext cx="1261872" cy="3017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59168" y="2011680"/>
            <a:ext cx="4754880" cy="30175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066544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Authentication — OTP login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88152" y="2066544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066544"/>
            <a:ext cx="4645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DC3C7"/>
                </a:solidFill>
              </a:rPr>
              <a:t>Fully working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340864"/>
            <a:ext cx="5376672" cy="30175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42432" y="2340864"/>
            <a:ext cx="1261872" cy="3017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59168" y="2340864"/>
            <a:ext cx="4754880" cy="30175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239572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Authentication — Microsoft SSO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88152" y="23957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Partial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395728"/>
            <a:ext cx="4645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DC3C7"/>
                </a:solidFill>
              </a:rPr>
              <a:t>Schema done, redirect flow partial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670048"/>
            <a:ext cx="5376672" cy="30175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42432" y="2670048"/>
            <a:ext cx="126187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59168" y="2670048"/>
            <a:ext cx="4754880" cy="30175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2724912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Authentication — SMTP per domain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88152" y="272491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Missing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2724912"/>
            <a:ext cx="4645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DC3C7"/>
                </a:solidFill>
              </a:rPr>
              <a:t>Single global SMTP — no per-domain config in schema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999232"/>
            <a:ext cx="5376672" cy="30175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2432" y="2999232"/>
            <a:ext cx="1261872" cy="3017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59168" y="2999232"/>
            <a:ext cx="4754880" cy="30175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305409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AI Chat config per domain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88152" y="3054096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3054096"/>
            <a:ext cx="4645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DC3C7"/>
                </a:solidFill>
              </a:rPr>
              <a:t>Schema + Node.js reads + streams correctly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328415"/>
            <a:ext cx="5376672" cy="30175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742432" y="3328415"/>
            <a:ext cx="1261872" cy="3017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059168" y="3328415"/>
            <a:ext cx="4754880" cy="30175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3383279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AI Embedding model per domain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88152" y="3383279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Partial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3383279"/>
            <a:ext cx="4645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DC3C7"/>
                </a:solidFill>
              </a:rPr>
              <a:t>Model stored; ai_embedding_dimensions column missing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3657600"/>
            <a:ext cx="5376672" cy="30175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42432" y="3657600"/>
            <a:ext cx="126187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059168" y="3657600"/>
            <a:ext cx="4754880" cy="30175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3192" y="3712463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Vector DB dimension handling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88152" y="3712463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Missing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3712463"/>
            <a:ext cx="4645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DC3C7"/>
                </a:solidFill>
              </a:rPr>
              <a:t>Single column; Python hardcodes 3072 — breaks non-Azure domains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3986784"/>
            <a:ext cx="5376672" cy="30175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742432" y="3986784"/>
            <a:ext cx="1261872" cy="3017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59168" y="3986784"/>
            <a:ext cx="4754880" cy="30175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" y="404164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Data isolation by cube_id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88152" y="404164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2320" y="4041648"/>
            <a:ext cx="4645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DC3C7"/>
                </a:solidFill>
              </a:rPr>
              <a:t>Application-layer enforcement in all SQL builders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4315968"/>
            <a:ext cx="5376672" cy="30175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42432" y="4315968"/>
            <a:ext cx="126187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059168" y="4315968"/>
            <a:ext cx="4754880" cy="30175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3192" y="4370831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SQL routing by data_schema_type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88152" y="4370831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Missing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32320" y="4370831"/>
            <a:ext cx="4645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DC3C7"/>
                </a:solidFill>
              </a:rPr>
              <a:t>Hardcoded is_nemko_domain() name check — not DB driven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4645152"/>
            <a:ext cx="5376672" cy="30175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2432" y="4645152"/>
            <a:ext cx="126187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059168" y="4645152"/>
            <a:ext cx="4754880" cy="30175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93192" y="470001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Nemko cube_id from DB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88152" y="4700016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Missing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32320" y="4700016"/>
            <a:ext cx="4645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DC3C7"/>
                </a:solidFill>
              </a:rPr>
              <a:t>UUID hardcoded in 4 Python locations — must be DB lookup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4974336"/>
            <a:ext cx="5376672" cy="30175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742432" y="4974336"/>
            <a:ext cx="126187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059168" y="4974336"/>
            <a:ext cx="4754880" cy="30175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93192" y="5029199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Branding per domain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88152" y="5029199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Missing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32320" y="5029199"/>
            <a:ext cx="4645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DC3C7"/>
                </a:solidFill>
              </a:rPr>
              <a:t>No schema columns — all pages show LedgerLM branding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5303520"/>
            <a:ext cx="5376672" cy="30175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742432" y="5303520"/>
            <a:ext cx="1261872" cy="3017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59168" y="5303520"/>
            <a:ext cx="4754880" cy="30175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3192" y="5358383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Super Admin — complete config form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788152" y="5358383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Partial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32320" y="5358383"/>
            <a:ext cx="4645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DC3C7"/>
                </a:solidFill>
              </a:rPr>
              <a:t>Has SSO + AI chat; missing SMTP, dims, branding, deployment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0040" y="5632704"/>
            <a:ext cx="5376672" cy="30175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742432" y="5632704"/>
            <a:ext cx="126187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59168" y="5632704"/>
            <a:ext cx="4754880" cy="30175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93192" y="568756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Deployment mode / URL config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88152" y="568756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Missing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32320" y="5687568"/>
            <a:ext cx="4645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DC3C7"/>
                </a:solidFill>
              </a:rPr>
              <a:t>No deployment_url column, no Host header middleware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0040" y="5961888"/>
            <a:ext cx="5376672" cy="30175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742432" y="5961888"/>
            <a:ext cx="1261872" cy="3017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059168" y="5961888"/>
            <a:ext cx="4754880" cy="30175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93192" y="6016751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</a:rPr>
              <a:t>Ingestion — dimension-aware embeds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788152" y="6016751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Partial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132320" y="6016751"/>
            <a:ext cx="4645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DC3C7"/>
                </a:solidFill>
              </a:rPr>
              <a:t>ai_config passed but dims hardcoded in vector_store.py:355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20040" y="6080760"/>
            <a:ext cx="150876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5759" y="6108192"/>
            <a:ext cx="14173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011680" y="6080760"/>
            <a:ext cx="150876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057400" y="6108192"/>
            <a:ext cx="14173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Partial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703320" y="6080760"/>
            <a:ext cx="150876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749039" y="6108192"/>
            <a:ext cx="14173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Missing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Build Roadmap — Recommended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CB"/>
                </a:solidFill>
              </a:rPr>
              <a:t>Each phase unlocks the next — start with schema, end with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249424" cy="5303520"/>
          </a:xfrm>
          <a:prstGeom prst="rect">
            <a:avLst/>
          </a:prstGeom>
          <a:solidFill>
            <a:srgbClr val="1A355E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249424" cy="64008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389888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Phase 1</a:t>
            </a:r>
          </a:p>
          <a:p>
            <a:pPr algn="ctr"/>
            <a:r>
              <a:rPr sz="950" b="1" i="0">
                <a:solidFill>
                  <a:srgbClr val="FFFFFF"/>
                </a:solidFill>
              </a:rPr>
              <a:t>Schema</a:t>
            </a:r>
          </a:p>
          <a:p>
            <a:pPr algn="ctr"/>
            <a:r>
              <a:rPr sz="950" b="1" i="0">
                <a:solidFill>
                  <a:srgbClr val="FFFFFF"/>
                </a:solidFill>
              </a:rPr>
              <a:t>Foundation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" y="2075688"/>
            <a:ext cx="914400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10312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1–2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423160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Add data_schema_type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090672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Add ai_embedding_dimensions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758183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Add branding_name + logo_url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425696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Add deployment_url + plan_type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5093208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Add smtp_* columns (6 fields)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5760720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Update Super Admin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6428231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npm run db:push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1371600"/>
            <a:ext cx="2249424" cy="5303520"/>
          </a:xfrm>
          <a:prstGeom prst="rect">
            <a:avLst/>
          </a:prstGeom>
          <a:solidFill>
            <a:srgbClr val="1A355E"/>
          </a:solidFill>
          <a:ln w="1905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51760" y="1371600"/>
            <a:ext cx="2249424" cy="64008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24912" y="1389888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Phase 2</a:t>
            </a:r>
          </a:p>
          <a:p>
            <a:pPr algn="ctr"/>
            <a:r>
              <a:rPr sz="950" b="1" i="0">
                <a:solidFill>
                  <a:srgbClr val="FFFFFF"/>
                </a:solidFill>
              </a:rPr>
              <a:t>Python</a:t>
            </a:r>
          </a:p>
          <a:p>
            <a:pPr algn="ctr"/>
            <a:r>
              <a:rPr sz="950" b="1" i="0">
                <a:solidFill>
                  <a:srgbClr val="FFFFFF"/>
                </a:solidFill>
              </a:rPr>
              <a:t>Routing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9272" y="2075688"/>
            <a:ext cx="914400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64991" y="210312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2–3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1488" y="2423160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Remove COMPANY_CONFIG dict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1488" y="3090672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Replace is_nemko_domain() with 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3758183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Fix 4 hardcoded nemko cube UUIDs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1488" y="4425696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cube_id always from DB config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61488" y="5093208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Cache invalidation on change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1488" y="5760720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Test: Bosch + Nemko unchanged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1371600"/>
            <a:ext cx="2249424" cy="5303520"/>
          </a:xfrm>
          <a:prstGeom prst="rect">
            <a:avLst/>
          </a:prstGeom>
          <a:solidFill>
            <a:srgbClr val="1A355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0" y="1371600"/>
            <a:ext cx="2249424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02352" y="1389888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Phase 3</a:t>
            </a:r>
          </a:p>
          <a:p>
            <a:pPr algn="ctr"/>
            <a:r>
              <a:rPr sz="950" b="1" i="0">
                <a:solidFill>
                  <a:srgbClr val="FFFFFF"/>
                </a:solidFill>
              </a:rPr>
              <a:t>Vector DB</a:t>
            </a:r>
          </a:p>
          <a:p>
            <a:pPr algn="ctr"/>
            <a:r>
              <a:rPr sz="950" b="1" i="0">
                <a:solidFill>
                  <a:srgbClr val="FFFFFF"/>
                </a:solidFill>
              </a:rPr>
              <a:t>Dimensions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96712" y="2075688"/>
            <a:ext cx="914400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42432" y="210312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1–2 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38928" y="2423160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Add embedding_768 vector(768)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38928" y="3090672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Add embedding_3072 vector(3072)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38928" y="3758183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Read dims from domain config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38928" y="4425696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Ingest → correct column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8928" y="5093208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RAG → query correct column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38928" y="5760720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Re-embed existing if dims changed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1371600"/>
            <a:ext cx="2249424" cy="5303520"/>
          </a:xfrm>
          <a:prstGeom prst="rect">
            <a:avLst/>
          </a:prstGeom>
          <a:solidFill>
            <a:srgbClr val="1A355E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06640" y="1371600"/>
            <a:ext cx="2249424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79792" y="1389888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Phase 4</a:t>
            </a:r>
          </a:p>
          <a:p>
            <a:pPr algn="ctr"/>
            <a:r>
              <a:rPr sz="950" b="1" i="0">
                <a:solidFill>
                  <a:srgbClr val="FFFFFF"/>
                </a:solidFill>
              </a:rPr>
              <a:t>SMTP &amp;</a:t>
            </a:r>
          </a:p>
          <a:p>
            <a:pPr algn="ctr"/>
            <a:r>
              <a:rPr sz="950" b="1" i="0">
                <a:solidFill>
                  <a:srgbClr val="FFFFFF"/>
                </a:solidFill>
              </a:rPr>
              <a:t>Branding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74152" y="2075688"/>
            <a:ext cx="914400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19872" y="210312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2–3 days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16368" y="2423160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SMTP: OTP from domain config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16368" y="3090672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Login page reads domain branding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16368" y="3758183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App header shows client logo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16368" y="4425696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Email templates use client name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16368" y="5093208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Host header middleware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16368" y="5760720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Public domain-config API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84080" y="1371600"/>
            <a:ext cx="2249424" cy="5303520"/>
          </a:xfrm>
          <a:prstGeom prst="rect">
            <a:avLst/>
          </a:prstGeom>
          <a:solidFill>
            <a:srgbClr val="1A355E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784080" y="1371600"/>
            <a:ext cx="2249424" cy="640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57232" y="1389888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Phase 5</a:t>
            </a:r>
          </a:p>
          <a:p>
            <a:pPr algn="ctr"/>
            <a:r>
              <a:rPr sz="950" b="1" i="0">
                <a:solidFill>
                  <a:srgbClr val="FFFFFF"/>
                </a:solidFill>
              </a:rPr>
              <a:t>Deployment</a:t>
            </a:r>
          </a:p>
          <a:p>
            <a:pPr algn="ctr"/>
            <a:r>
              <a:rPr sz="950" b="1" i="0">
                <a:solidFill>
                  <a:srgbClr val="FFFFFF"/>
                </a:solidFill>
              </a:rPr>
              <a:t>Config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51592" y="2075688"/>
            <a:ext cx="914400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97312" y="210312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3–5 days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93808" y="2423160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Nginx subdomain routing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93808" y="3090672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Docker image parameterisation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93808" y="3758183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Health check per tenant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93808" y="4425696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Self-hosted client config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93808" y="5093208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Admin deployment status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93808" y="5760720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• Monitoring + uptime alerts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