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9144000" cy="73152"/>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0"/>
            <a:ext cx="9144000" cy="73152"/>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8229600" cy="548640"/>
          </a:xfrm>
          <a:prstGeom prst="rect">
            <a:avLst/>
          </a:prstGeom>
          <a:noFill/>
        </p:spPr>
        <p:txBody>
          <a:bodyPr wrap="square">
            <a:spAutoFit/>
          </a:bodyPr>
          <a:lstStyle/>
          <a:p>
            <a:pPr algn="ctr"/>
            <a:r>
              <a:rPr sz="2600" b="1" i="0">
                <a:solidFill>
                  <a:srgbClr val="FFFFFF"/>
                </a:solidFill>
              </a:rPr>
              <a:t>NEHRU ARTS AND SCIENCE COLLEGE</a:t>
            </a:r>
          </a:p>
        </p:txBody>
      </p:sp>
      <p:sp>
        <p:nvSpPr>
          <p:cNvPr id="6" name="TextBox 5"/>
          <p:cNvSpPr txBox="1"/>
          <p:nvPr/>
        </p:nvSpPr>
        <p:spPr>
          <a:xfrm>
            <a:off x="457200" y="658368"/>
            <a:ext cx="8229600" cy="365760"/>
          </a:xfrm>
          <a:prstGeom prst="rect">
            <a:avLst/>
          </a:prstGeom>
          <a:noFill/>
        </p:spPr>
        <p:txBody>
          <a:bodyPr wrap="square">
            <a:spAutoFit/>
          </a:bodyPr>
          <a:lstStyle/>
          <a:p>
            <a:pPr algn="ctr"/>
            <a:r>
              <a:rPr sz="1600" b="0" i="0">
                <a:solidFill>
                  <a:srgbClr val="C8A01A"/>
                </a:solidFill>
              </a:rPr>
              <a:t>(Autonomous)</a:t>
            </a:r>
          </a:p>
        </p:txBody>
      </p:sp>
      <p:sp>
        <p:nvSpPr>
          <p:cNvPr id="7" name="TextBox 6"/>
          <p:cNvSpPr txBox="1"/>
          <p:nvPr/>
        </p:nvSpPr>
        <p:spPr>
          <a:xfrm>
            <a:off x="457200" y="1280160"/>
            <a:ext cx="8229600" cy="914400"/>
          </a:xfrm>
          <a:prstGeom prst="rect">
            <a:avLst/>
          </a:prstGeom>
          <a:noFill/>
        </p:spPr>
        <p:txBody>
          <a:bodyPr wrap="square">
            <a:spAutoFit/>
          </a:bodyPr>
          <a:lstStyle/>
          <a:p>
            <a:pPr algn="ctr"/>
            <a:r>
              <a:rPr sz="3000" b="1" i="0">
                <a:solidFill>
                  <a:srgbClr val="FFFFFF"/>
                </a:solidFill>
              </a:rPr>
              <a:t>Harry Potter and the Philosopher's Stone</a:t>
            </a:r>
          </a:p>
        </p:txBody>
      </p:sp>
      <p:sp>
        <p:nvSpPr>
          <p:cNvPr id="8" name="TextBox 7"/>
          <p:cNvSpPr txBox="1"/>
          <p:nvPr/>
        </p:nvSpPr>
        <p:spPr>
          <a:xfrm>
            <a:off x="457200" y="2194560"/>
            <a:ext cx="8229600" cy="502920"/>
          </a:xfrm>
          <a:prstGeom prst="rect">
            <a:avLst/>
          </a:prstGeom>
          <a:noFill/>
        </p:spPr>
        <p:txBody>
          <a:bodyPr wrap="square">
            <a:spAutoFit/>
          </a:bodyPr>
          <a:lstStyle/>
          <a:p>
            <a:pPr algn="ctr"/>
            <a:r>
              <a:rPr sz="2000" b="0" i="0">
                <a:solidFill>
                  <a:srgbClr val="C8A01A"/>
                </a:solidFill>
              </a:rPr>
              <a:t>Book Review – 2</a:t>
            </a:r>
          </a:p>
        </p:txBody>
      </p:sp>
      <p:sp>
        <p:nvSpPr>
          <p:cNvPr id="9" name="TextBox 8"/>
          <p:cNvSpPr txBox="1"/>
          <p:nvPr/>
        </p:nvSpPr>
        <p:spPr>
          <a:xfrm>
            <a:off x="457200" y="2788920"/>
            <a:ext cx="8229600" cy="457200"/>
          </a:xfrm>
          <a:prstGeom prst="rect">
            <a:avLst/>
          </a:prstGeom>
          <a:noFill/>
        </p:spPr>
        <p:txBody>
          <a:bodyPr wrap="square">
            <a:spAutoFit/>
          </a:bodyPr>
          <a:lstStyle/>
          <a:p>
            <a:pPr algn="ctr"/>
            <a:r>
              <a:rPr sz="1600" b="0" i="1">
                <a:solidFill>
                  <a:srgbClr val="FFFFFF"/>
                </a:solidFill>
              </a:rPr>
              <a:t>Communicative English Practical – II</a:t>
            </a:r>
          </a:p>
        </p:txBody>
      </p:sp>
      <p:sp>
        <p:nvSpPr>
          <p:cNvPr id="10" name="Rectangle 9"/>
          <p:cNvSpPr/>
          <p:nvPr/>
        </p:nvSpPr>
        <p:spPr>
          <a:xfrm>
            <a:off x="1828800" y="3337560"/>
            <a:ext cx="5486400" cy="36576"/>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3520440"/>
            <a:ext cx="3931920" cy="384048"/>
          </a:xfrm>
          <a:prstGeom prst="rect">
            <a:avLst/>
          </a:prstGeom>
          <a:noFill/>
        </p:spPr>
        <p:txBody>
          <a:bodyPr wrap="square">
            <a:spAutoFit/>
          </a:bodyPr>
          <a:lstStyle/>
          <a:p>
            <a:pPr algn="l"/>
            <a:r>
              <a:rPr sz="1400" b="0" i="0">
                <a:solidFill>
                  <a:srgbClr val="FFFFFF"/>
                </a:solidFill>
              </a:rPr>
              <a:t>Candidate Name:  Sudhan KS</a:t>
            </a:r>
          </a:p>
        </p:txBody>
      </p:sp>
      <p:sp>
        <p:nvSpPr>
          <p:cNvPr id="12" name="TextBox 11"/>
          <p:cNvSpPr txBox="1"/>
          <p:nvPr/>
        </p:nvSpPr>
        <p:spPr>
          <a:xfrm>
            <a:off x="1645920" y="3922776"/>
            <a:ext cx="3931920" cy="384048"/>
          </a:xfrm>
          <a:prstGeom prst="rect">
            <a:avLst/>
          </a:prstGeom>
          <a:noFill/>
        </p:spPr>
        <p:txBody>
          <a:bodyPr wrap="square">
            <a:spAutoFit/>
          </a:bodyPr>
          <a:lstStyle/>
          <a:p>
            <a:pPr algn="l"/>
            <a:r>
              <a:rPr sz="1400" b="0" i="0">
                <a:solidFill>
                  <a:srgbClr val="FFFFFF"/>
                </a:solidFill>
              </a:rPr>
              <a:t>Roll Number:       24UGCI035</a:t>
            </a:r>
          </a:p>
        </p:txBody>
      </p:sp>
      <p:sp>
        <p:nvSpPr>
          <p:cNvPr id="13" name="TextBox 12"/>
          <p:cNvSpPr txBox="1"/>
          <p:nvPr/>
        </p:nvSpPr>
        <p:spPr>
          <a:xfrm>
            <a:off x="1645920" y="4325112"/>
            <a:ext cx="3931920" cy="384048"/>
          </a:xfrm>
          <a:prstGeom prst="rect">
            <a:avLst/>
          </a:prstGeom>
          <a:noFill/>
        </p:spPr>
        <p:txBody>
          <a:bodyPr wrap="square">
            <a:spAutoFit/>
          </a:bodyPr>
          <a:lstStyle/>
          <a:p>
            <a:pPr algn="l"/>
            <a:r>
              <a:rPr sz="1400" b="0" i="0">
                <a:solidFill>
                  <a:srgbClr val="FFFFFF"/>
                </a:solidFill>
              </a:rPr>
              <a:t>Department:        Commerce</a:t>
            </a:r>
          </a:p>
        </p:txBody>
      </p:sp>
      <p:sp>
        <p:nvSpPr>
          <p:cNvPr id="14" name="TextBox 13"/>
          <p:cNvSpPr txBox="1"/>
          <p:nvPr/>
        </p:nvSpPr>
        <p:spPr>
          <a:xfrm>
            <a:off x="1645920" y="4727448"/>
            <a:ext cx="3931920" cy="384048"/>
          </a:xfrm>
          <a:prstGeom prst="rect">
            <a:avLst/>
          </a:prstGeom>
          <a:noFill/>
        </p:spPr>
        <p:txBody>
          <a:bodyPr wrap="square">
            <a:spAutoFit/>
          </a:bodyPr>
          <a:lstStyle/>
          <a:p>
            <a:pPr algn="l"/>
            <a:r>
              <a:rPr sz="1400" b="0" i="0">
                <a:solidFill>
                  <a:srgbClr val="FFFFFF"/>
                </a:solidFill>
              </a:rPr>
              <a:t>Course Code:       24U2ENG404</a:t>
            </a:r>
          </a:p>
        </p:txBody>
      </p:sp>
      <p:sp>
        <p:nvSpPr>
          <p:cNvPr id="15" name="TextBox 14"/>
          <p:cNvSpPr txBox="1"/>
          <p:nvPr/>
        </p:nvSpPr>
        <p:spPr>
          <a:xfrm>
            <a:off x="1645920" y="5129784"/>
            <a:ext cx="3931920" cy="384048"/>
          </a:xfrm>
          <a:prstGeom prst="rect">
            <a:avLst/>
          </a:prstGeom>
          <a:noFill/>
        </p:spPr>
        <p:txBody>
          <a:bodyPr wrap="square">
            <a:spAutoFit/>
          </a:bodyPr>
          <a:lstStyle/>
          <a:p>
            <a:pPr algn="l"/>
            <a:r>
              <a:rPr sz="1400" b="0" i="0">
                <a:solidFill>
                  <a:srgbClr val="FFFFFF"/>
                </a:solidFill>
              </a:rPr>
              <a:t>Course Name:      Communicative English Practical – II</a:t>
            </a:r>
          </a:p>
        </p:txBody>
      </p:sp>
      <p:pic>
        <p:nvPicPr>
          <p:cNvPr id="16" name="Picture 15" descr="harry_potter_cover.jpg"/>
          <p:cNvPicPr>
            <a:picLocks noChangeAspect="1"/>
          </p:cNvPicPr>
          <p:nvPr/>
        </p:nvPicPr>
        <p:blipFill>
          <a:blip r:embed="rId2"/>
          <a:stretch>
            <a:fillRect/>
          </a:stretch>
        </p:blipFill>
        <p:spPr>
          <a:xfrm>
            <a:off x="5760720" y="3246120"/>
            <a:ext cx="2011680" cy="292395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243584"/>
            <a:ext cx="9144000" cy="5248656"/>
          </a:xfrm>
          <a:prstGeom prst="rect">
            <a:avLst/>
          </a:prstGeom>
          <a:solidFill>
            <a:srgbClr val="E8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188720"/>
          </a:xfrm>
          <a:prstGeom prst="rect">
            <a:avLst/>
          </a:prstGeom>
          <a:solidFill>
            <a:srgbClr val="1A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9144000" cy="54864"/>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73152"/>
            <a:ext cx="8778240" cy="502920"/>
          </a:xfrm>
          <a:prstGeom prst="rect">
            <a:avLst/>
          </a:prstGeom>
          <a:noFill/>
        </p:spPr>
        <p:txBody>
          <a:bodyPr wrap="square">
            <a:spAutoFit/>
          </a:bodyPr>
          <a:lstStyle/>
          <a:p>
            <a:pPr algn="ctr"/>
            <a:r>
              <a:rPr sz="2200" b="1" i="0">
                <a:solidFill>
                  <a:srgbClr val="FFFFFF"/>
                </a:solidFill>
              </a:rPr>
              <a:t>NEHRU ARTS AND SCIENCE COLLEGE</a:t>
            </a:r>
          </a:p>
        </p:txBody>
      </p:sp>
      <p:sp>
        <p:nvSpPr>
          <p:cNvPr id="6" name="TextBox 5"/>
          <p:cNvSpPr txBox="1"/>
          <p:nvPr/>
        </p:nvSpPr>
        <p:spPr>
          <a:xfrm>
            <a:off x="182880" y="530352"/>
            <a:ext cx="8778240" cy="320040"/>
          </a:xfrm>
          <a:prstGeom prst="rect">
            <a:avLst/>
          </a:prstGeom>
          <a:noFill/>
        </p:spPr>
        <p:txBody>
          <a:bodyPr wrap="square">
            <a:spAutoFit/>
          </a:bodyPr>
          <a:lstStyle/>
          <a:p>
            <a:pPr algn="ctr"/>
            <a:r>
              <a:rPr sz="1400" b="0" i="0">
                <a:solidFill>
                  <a:srgbClr val="C8A01A"/>
                </a:solidFill>
              </a:rPr>
              <a:t>(Autonomous)</a:t>
            </a:r>
          </a:p>
        </p:txBody>
      </p:sp>
      <p:sp>
        <p:nvSpPr>
          <p:cNvPr id="7" name="Rectangle 6"/>
          <p:cNvSpPr/>
          <p:nvPr/>
        </p:nvSpPr>
        <p:spPr>
          <a:xfrm>
            <a:off x="0" y="6492240"/>
            <a:ext cx="9144000" cy="365760"/>
          </a:xfrm>
          <a:prstGeom prst="rect">
            <a:avLst/>
          </a:prstGeom>
          <a:solidFill>
            <a:srgbClr val="1A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0" y="6492240"/>
            <a:ext cx="457200" cy="365760"/>
          </a:xfrm>
          <a:prstGeom prst="rect">
            <a:avLst/>
          </a:prstGeom>
          <a:noFill/>
        </p:spPr>
        <p:txBody>
          <a:bodyPr wrap="square">
            <a:spAutoFit/>
          </a:bodyPr>
          <a:lstStyle/>
          <a:p>
            <a:pPr algn="r"/>
            <a:r>
              <a:rPr sz="1100" b="0" i="0">
                <a:solidFill>
                  <a:srgbClr val="FFFFFF"/>
                </a:solidFill>
              </a:rPr>
              <a:t>2</a:t>
            </a:r>
          </a:p>
        </p:txBody>
      </p:sp>
      <p:sp>
        <p:nvSpPr>
          <p:cNvPr id="9" name="Rectangle 8"/>
          <p:cNvSpPr/>
          <p:nvPr/>
        </p:nvSpPr>
        <p:spPr>
          <a:xfrm>
            <a:off x="274320" y="1417320"/>
            <a:ext cx="8595360" cy="5029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920240"/>
            <a:ext cx="8595360" cy="36576"/>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463040"/>
            <a:ext cx="8229600" cy="457200"/>
          </a:xfrm>
          <a:prstGeom prst="rect">
            <a:avLst/>
          </a:prstGeom>
          <a:noFill/>
        </p:spPr>
        <p:txBody>
          <a:bodyPr wrap="square">
            <a:spAutoFit/>
          </a:bodyPr>
          <a:lstStyle/>
          <a:p>
            <a:pPr algn="l"/>
            <a:r>
              <a:rPr sz="2000" b="1" i="0">
                <a:solidFill>
                  <a:srgbClr val="FFFFFF"/>
                </a:solidFill>
              </a:rPr>
              <a:t>Book Details &amp; Introduction</a:t>
            </a:r>
          </a:p>
        </p:txBody>
      </p:sp>
      <p:sp>
        <p:nvSpPr>
          <p:cNvPr id="12" name="Rectangle 11"/>
          <p:cNvSpPr/>
          <p:nvPr/>
        </p:nvSpPr>
        <p:spPr>
          <a:xfrm>
            <a:off x="274320" y="2029968"/>
            <a:ext cx="3840480" cy="1508760"/>
          </a:xfrm>
          <a:prstGeom prst="rect">
            <a:avLst/>
          </a:prstGeom>
          <a:solidFill>
            <a:srgbClr val="FFFFFF"/>
          </a:solidFill>
          <a:ln w="1905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2103120"/>
            <a:ext cx="3566160" cy="1371600"/>
          </a:xfrm>
          <a:prstGeom prst="rect">
            <a:avLst/>
          </a:prstGeom>
          <a:noFill/>
        </p:spPr>
        <p:txBody>
          <a:bodyPr wrap="square">
            <a:spAutoFit/>
          </a:bodyPr>
          <a:lstStyle/>
          <a:p>
            <a:pPr>
              <a:spcBef>
                <a:spcPts val="400"/>
              </a:spcBef>
            </a:pPr>
            <a:r>
              <a:rPr sz="1300" b="1">
                <a:solidFill>
                  <a:srgbClr val="333333"/>
                </a:solidFill>
              </a:rPr>
              <a:t>Name of the Book:</a:t>
            </a:r>
          </a:p>
          <a:p>
            <a:pPr>
              <a:spcBef>
                <a:spcPts val="400"/>
              </a:spcBef>
            </a:pPr>
            <a:r>
              <a:rPr sz="1300" b="0">
                <a:solidFill>
                  <a:srgbClr val="333333"/>
                </a:solidFill>
              </a:rPr>
              <a:t>Harry Potter and the Philosopher's Stone</a:t>
            </a:r>
          </a:p>
          <a:p>
            <a:pPr>
              <a:spcBef>
                <a:spcPts val="400"/>
              </a:spcBef>
            </a:pPr>
            <a:r>
              <a:rPr sz="1300" b="1">
                <a:solidFill>
                  <a:srgbClr val="333333"/>
                </a:solidFill>
              </a:rPr>
              <a:t>Author: J.K. Rowling</a:t>
            </a:r>
          </a:p>
          <a:p>
            <a:pPr>
              <a:spcBef>
                <a:spcPts val="400"/>
              </a:spcBef>
            </a:pPr>
            <a:r>
              <a:rPr sz="1300" b="1">
                <a:solidFill>
                  <a:srgbClr val="333333"/>
                </a:solidFill>
              </a:rPr>
              <a:t>Year of Publication: 1997</a:t>
            </a:r>
          </a:p>
        </p:txBody>
      </p:sp>
      <p:sp>
        <p:nvSpPr>
          <p:cNvPr id="14" name="Rectangle 13"/>
          <p:cNvSpPr/>
          <p:nvPr/>
        </p:nvSpPr>
        <p:spPr>
          <a:xfrm>
            <a:off x="4297680" y="2029968"/>
            <a:ext cx="4572000" cy="4206240"/>
          </a:xfrm>
          <a:prstGeom prst="rect">
            <a:avLst/>
          </a:prstGeom>
          <a:solidFill>
            <a:srgbClr val="FFFFFF"/>
          </a:solidFill>
          <a:ln w="1905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2103120"/>
            <a:ext cx="4297680" cy="365760"/>
          </a:xfrm>
          <a:prstGeom prst="rect">
            <a:avLst/>
          </a:prstGeom>
          <a:noFill/>
        </p:spPr>
        <p:txBody>
          <a:bodyPr wrap="square">
            <a:spAutoFit/>
          </a:bodyPr>
          <a:lstStyle/>
          <a:p>
            <a:pPr algn="l"/>
            <a:r>
              <a:rPr sz="1400" b="1" i="0">
                <a:solidFill>
                  <a:srgbClr val="2E7D4F"/>
                </a:solidFill>
              </a:rPr>
              <a:t>Introduction</a:t>
            </a:r>
          </a:p>
        </p:txBody>
      </p:sp>
      <p:sp>
        <p:nvSpPr>
          <p:cNvPr id="16" name="TextBox 15"/>
          <p:cNvSpPr txBox="1"/>
          <p:nvPr/>
        </p:nvSpPr>
        <p:spPr>
          <a:xfrm>
            <a:off x="4434840" y="2487168"/>
            <a:ext cx="4297680" cy="3611880"/>
          </a:xfrm>
          <a:prstGeom prst="rect">
            <a:avLst/>
          </a:prstGeom>
          <a:noFill/>
        </p:spPr>
        <p:txBody>
          <a:bodyPr wrap="square">
            <a:spAutoFit/>
          </a:bodyPr>
          <a:lstStyle/>
          <a:p>
            <a:pPr algn="l"/>
            <a:r>
              <a:rPr sz="1300" b="0" i="0">
                <a:solidFill>
                  <a:srgbClr val="333333"/>
                </a:solidFill>
              </a:rPr>
              <a:t>This beloved fantasy novel introduces readers to Harry Potter, an orphan boy who discovers on his eleventh birthday that he is a wizard.
The book opens the door to a magical world filled with wonder, friendship, courage, and adventure. It marks the beginning of one of the most successful book series in history and has captivated millions of readers of all ages across the globe.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243584"/>
            <a:ext cx="9144000" cy="5248656"/>
          </a:xfrm>
          <a:prstGeom prst="rect">
            <a:avLst/>
          </a:prstGeom>
          <a:solidFill>
            <a:srgbClr val="E8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188720"/>
          </a:xfrm>
          <a:prstGeom prst="rect">
            <a:avLst/>
          </a:prstGeom>
          <a:solidFill>
            <a:srgbClr val="1A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9144000" cy="54864"/>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73152"/>
            <a:ext cx="8778240" cy="502920"/>
          </a:xfrm>
          <a:prstGeom prst="rect">
            <a:avLst/>
          </a:prstGeom>
          <a:noFill/>
        </p:spPr>
        <p:txBody>
          <a:bodyPr wrap="square">
            <a:spAutoFit/>
          </a:bodyPr>
          <a:lstStyle/>
          <a:p>
            <a:pPr algn="ctr"/>
            <a:r>
              <a:rPr sz="2200" b="1" i="0">
                <a:solidFill>
                  <a:srgbClr val="FFFFFF"/>
                </a:solidFill>
              </a:rPr>
              <a:t>NEHRU ARTS AND SCIENCE COLLEGE</a:t>
            </a:r>
          </a:p>
        </p:txBody>
      </p:sp>
      <p:sp>
        <p:nvSpPr>
          <p:cNvPr id="6" name="TextBox 5"/>
          <p:cNvSpPr txBox="1"/>
          <p:nvPr/>
        </p:nvSpPr>
        <p:spPr>
          <a:xfrm>
            <a:off x="182880" y="530352"/>
            <a:ext cx="8778240" cy="320040"/>
          </a:xfrm>
          <a:prstGeom prst="rect">
            <a:avLst/>
          </a:prstGeom>
          <a:noFill/>
        </p:spPr>
        <p:txBody>
          <a:bodyPr wrap="square">
            <a:spAutoFit/>
          </a:bodyPr>
          <a:lstStyle/>
          <a:p>
            <a:pPr algn="ctr"/>
            <a:r>
              <a:rPr sz="1400" b="0" i="0">
                <a:solidFill>
                  <a:srgbClr val="C8A01A"/>
                </a:solidFill>
              </a:rPr>
              <a:t>(Autonomous)</a:t>
            </a:r>
          </a:p>
        </p:txBody>
      </p:sp>
      <p:sp>
        <p:nvSpPr>
          <p:cNvPr id="7" name="Rectangle 6"/>
          <p:cNvSpPr/>
          <p:nvPr/>
        </p:nvSpPr>
        <p:spPr>
          <a:xfrm>
            <a:off x="0" y="6492240"/>
            <a:ext cx="9144000" cy="365760"/>
          </a:xfrm>
          <a:prstGeom prst="rect">
            <a:avLst/>
          </a:prstGeom>
          <a:solidFill>
            <a:srgbClr val="1A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0" y="6492240"/>
            <a:ext cx="457200" cy="365760"/>
          </a:xfrm>
          <a:prstGeom prst="rect">
            <a:avLst/>
          </a:prstGeom>
          <a:noFill/>
        </p:spPr>
        <p:txBody>
          <a:bodyPr wrap="square">
            <a:spAutoFit/>
          </a:bodyPr>
          <a:lstStyle/>
          <a:p>
            <a:pPr algn="r"/>
            <a:r>
              <a:rPr sz="1100" b="0" i="0">
                <a:solidFill>
                  <a:srgbClr val="FFFFFF"/>
                </a:solidFill>
              </a:rPr>
              <a:t>3</a:t>
            </a:r>
          </a:p>
        </p:txBody>
      </p:sp>
      <p:sp>
        <p:nvSpPr>
          <p:cNvPr id="9" name="Rectangle 8"/>
          <p:cNvSpPr/>
          <p:nvPr/>
        </p:nvSpPr>
        <p:spPr>
          <a:xfrm>
            <a:off x="274320" y="1417320"/>
            <a:ext cx="8595360" cy="5029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920240"/>
            <a:ext cx="8595360" cy="36576"/>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463040"/>
            <a:ext cx="8229600" cy="457200"/>
          </a:xfrm>
          <a:prstGeom prst="rect">
            <a:avLst/>
          </a:prstGeom>
          <a:noFill/>
        </p:spPr>
        <p:txBody>
          <a:bodyPr wrap="square">
            <a:spAutoFit/>
          </a:bodyPr>
          <a:lstStyle/>
          <a:p>
            <a:pPr algn="l"/>
            <a:r>
              <a:rPr sz="2000" b="1" i="0">
                <a:solidFill>
                  <a:srgbClr val="FFFFFF"/>
                </a:solidFill>
              </a:rPr>
              <a:t>Summary of the Story</a:t>
            </a:r>
          </a:p>
        </p:txBody>
      </p:sp>
      <p:sp>
        <p:nvSpPr>
          <p:cNvPr id="12" name="Rectangle 11"/>
          <p:cNvSpPr/>
          <p:nvPr/>
        </p:nvSpPr>
        <p:spPr>
          <a:xfrm>
            <a:off x="274320" y="2057400"/>
            <a:ext cx="8595360" cy="4160520"/>
          </a:xfrm>
          <a:prstGeom prst="rect">
            <a:avLst/>
          </a:prstGeom>
          <a:solidFill>
            <a:srgbClr val="FFFFFF"/>
          </a:solidFill>
          <a:ln w="1905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212848"/>
            <a:ext cx="8229600" cy="3840480"/>
          </a:xfrm>
          <a:prstGeom prst="rect">
            <a:avLst/>
          </a:prstGeom>
          <a:noFill/>
        </p:spPr>
        <p:txBody>
          <a:bodyPr wrap="square">
            <a:spAutoFit/>
          </a:bodyPr>
          <a:lstStyle/>
          <a:p>
            <a:pPr algn="l"/>
            <a:r>
              <a:rPr sz="1500" b="0" i="0">
                <a:solidFill>
                  <a:srgbClr val="333333"/>
                </a:solidFill>
              </a:rPr>
              <a:t>Harry Potter grows up not knowing he is a wizard, raised by his cold and unkind relatives — the Dursleys. On his eleventh birthday, he receives a letter of admission to Hogwarts School of Witchcraft and Wizardry.
At Hogwarts, Harry makes loyal friends — Ron Weasley and Hermione Granger — and begins to uncover the truth about his mysterious past and the fate of his parents.
Harry learns that a powerful hidden object called the Philosopher's Stone, which grants immortality, is hidden in the school. He and his friends face dangerous challenges to protect it from the dark wizard Lord Voldemort, who seeks to return to power.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243584"/>
            <a:ext cx="9144000" cy="5248656"/>
          </a:xfrm>
          <a:prstGeom prst="rect">
            <a:avLst/>
          </a:prstGeom>
          <a:solidFill>
            <a:srgbClr val="E8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188720"/>
          </a:xfrm>
          <a:prstGeom prst="rect">
            <a:avLst/>
          </a:prstGeom>
          <a:solidFill>
            <a:srgbClr val="1A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9144000" cy="54864"/>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73152"/>
            <a:ext cx="8778240" cy="502920"/>
          </a:xfrm>
          <a:prstGeom prst="rect">
            <a:avLst/>
          </a:prstGeom>
          <a:noFill/>
        </p:spPr>
        <p:txBody>
          <a:bodyPr wrap="square">
            <a:spAutoFit/>
          </a:bodyPr>
          <a:lstStyle/>
          <a:p>
            <a:pPr algn="ctr"/>
            <a:r>
              <a:rPr sz="2200" b="1" i="0">
                <a:solidFill>
                  <a:srgbClr val="FFFFFF"/>
                </a:solidFill>
              </a:rPr>
              <a:t>NEHRU ARTS AND SCIENCE COLLEGE</a:t>
            </a:r>
          </a:p>
        </p:txBody>
      </p:sp>
      <p:sp>
        <p:nvSpPr>
          <p:cNvPr id="6" name="TextBox 5"/>
          <p:cNvSpPr txBox="1"/>
          <p:nvPr/>
        </p:nvSpPr>
        <p:spPr>
          <a:xfrm>
            <a:off x="182880" y="530352"/>
            <a:ext cx="8778240" cy="320040"/>
          </a:xfrm>
          <a:prstGeom prst="rect">
            <a:avLst/>
          </a:prstGeom>
          <a:noFill/>
        </p:spPr>
        <p:txBody>
          <a:bodyPr wrap="square">
            <a:spAutoFit/>
          </a:bodyPr>
          <a:lstStyle/>
          <a:p>
            <a:pPr algn="ctr"/>
            <a:r>
              <a:rPr sz="1400" b="0" i="0">
                <a:solidFill>
                  <a:srgbClr val="C8A01A"/>
                </a:solidFill>
              </a:rPr>
              <a:t>(Autonomous)</a:t>
            </a:r>
          </a:p>
        </p:txBody>
      </p:sp>
      <p:sp>
        <p:nvSpPr>
          <p:cNvPr id="7" name="Rectangle 6"/>
          <p:cNvSpPr/>
          <p:nvPr/>
        </p:nvSpPr>
        <p:spPr>
          <a:xfrm>
            <a:off x="0" y="6492240"/>
            <a:ext cx="9144000" cy="365760"/>
          </a:xfrm>
          <a:prstGeom prst="rect">
            <a:avLst/>
          </a:prstGeom>
          <a:solidFill>
            <a:srgbClr val="1A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0" y="6492240"/>
            <a:ext cx="457200" cy="365760"/>
          </a:xfrm>
          <a:prstGeom prst="rect">
            <a:avLst/>
          </a:prstGeom>
          <a:noFill/>
        </p:spPr>
        <p:txBody>
          <a:bodyPr wrap="square">
            <a:spAutoFit/>
          </a:bodyPr>
          <a:lstStyle/>
          <a:p>
            <a:pPr algn="r"/>
            <a:r>
              <a:rPr sz="1100" b="0" i="0">
                <a:solidFill>
                  <a:srgbClr val="FFFFFF"/>
                </a:solidFill>
              </a:rPr>
              <a:t>4</a:t>
            </a:r>
          </a:p>
        </p:txBody>
      </p:sp>
      <p:sp>
        <p:nvSpPr>
          <p:cNvPr id="9" name="Rectangle 8"/>
          <p:cNvSpPr/>
          <p:nvPr/>
        </p:nvSpPr>
        <p:spPr>
          <a:xfrm>
            <a:off x="274320" y="1417320"/>
            <a:ext cx="8595360" cy="5029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920240"/>
            <a:ext cx="8595360" cy="36576"/>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463040"/>
            <a:ext cx="8229600" cy="457200"/>
          </a:xfrm>
          <a:prstGeom prst="rect">
            <a:avLst/>
          </a:prstGeom>
          <a:noFill/>
        </p:spPr>
        <p:txBody>
          <a:bodyPr wrap="square">
            <a:spAutoFit/>
          </a:bodyPr>
          <a:lstStyle/>
          <a:p>
            <a:pPr algn="l"/>
            <a:r>
              <a:rPr sz="2000" b="1" i="0">
                <a:solidFill>
                  <a:srgbClr val="FFFFFF"/>
                </a:solidFill>
              </a:rPr>
              <a:t>Themes &amp; Message</a:t>
            </a:r>
          </a:p>
        </p:txBody>
      </p:sp>
      <p:sp>
        <p:nvSpPr>
          <p:cNvPr id="12" name="Rectangle 11"/>
          <p:cNvSpPr/>
          <p:nvPr/>
        </p:nvSpPr>
        <p:spPr>
          <a:xfrm>
            <a:off x="274320" y="2057400"/>
            <a:ext cx="8595360" cy="4160520"/>
          </a:xfrm>
          <a:prstGeom prst="rect">
            <a:avLst/>
          </a:prstGeom>
          <a:solidFill>
            <a:srgbClr val="FFFFFF"/>
          </a:solidFill>
          <a:ln w="1905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212848"/>
            <a:ext cx="8229600" cy="3840480"/>
          </a:xfrm>
          <a:prstGeom prst="rect">
            <a:avLst/>
          </a:prstGeom>
          <a:noFill/>
        </p:spPr>
        <p:txBody>
          <a:bodyPr wrap="square">
            <a:spAutoFit/>
          </a:bodyPr>
          <a:lstStyle/>
          <a:p>
            <a:pPr algn="l"/>
            <a:r>
              <a:rPr sz="1500" b="0" i="0">
                <a:solidFill>
                  <a:srgbClr val="333333"/>
                </a:solidFill>
              </a:rPr>
              <a:t>Themes &amp; Message in Harry Potter and the Philosopher's Stone:
• Friendship &amp; Loyalty — Harry, Ron, and Hermione show that true friendship means standing together even in the face of danger.
• Good vs. Evil — The battle between Harry and Voldemort represents the timeless struggle between good and evil.
• Courage — Harry repeatedly acts bravely despite fear, teaching readers that courage is not the absence of fear but acting in spite of it.
• Love &amp; Sacrifice — Harry's mother's love is portrayed as the most powerful magic of all — stronger than any dark spell.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243584"/>
            <a:ext cx="9144000" cy="5248656"/>
          </a:xfrm>
          <a:prstGeom prst="rect">
            <a:avLst/>
          </a:prstGeom>
          <a:solidFill>
            <a:srgbClr val="E8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188720"/>
          </a:xfrm>
          <a:prstGeom prst="rect">
            <a:avLst/>
          </a:prstGeom>
          <a:solidFill>
            <a:srgbClr val="1A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720"/>
            <a:ext cx="9144000" cy="54864"/>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73152"/>
            <a:ext cx="8778240" cy="502920"/>
          </a:xfrm>
          <a:prstGeom prst="rect">
            <a:avLst/>
          </a:prstGeom>
          <a:noFill/>
        </p:spPr>
        <p:txBody>
          <a:bodyPr wrap="square">
            <a:spAutoFit/>
          </a:bodyPr>
          <a:lstStyle/>
          <a:p>
            <a:pPr algn="ctr"/>
            <a:r>
              <a:rPr sz="2200" b="1" i="0">
                <a:solidFill>
                  <a:srgbClr val="FFFFFF"/>
                </a:solidFill>
              </a:rPr>
              <a:t>NEHRU ARTS AND SCIENCE COLLEGE</a:t>
            </a:r>
          </a:p>
        </p:txBody>
      </p:sp>
      <p:sp>
        <p:nvSpPr>
          <p:cNvPr id="6" name="TextBox 5"/>
          <p:cNvSpPr txBox="1"/>
          <p:nvPr/>
        </p:nvSpPr>
        <p:spPr>
          <a:xfrm>
            <a:off x="182880" y="530352"/>
            <a:ext cx="8778240" cy="320040"/>
          </a:xfrm>
          <a:prstGeom prst="rect">
            <a:avLst/>
          </a:prstGeom>
          <a:noFill/>
        </p:spPr>
        <p:txBody>
          <a:bodyPr wrap="square">
            <a:spAutoFit/>
          </a:bodyPr>
          <a:lstStyle/>
          <a:p>
            <a:pPr algn="ctr"/>
            <a:r>
              <a:rPr sz="1400" b="0" i="0">
                <a:solidFill>
                  <a:srgbClr val="C8A01A"/>
                </a:solidFill>
              </a:rPr>
              <a:t>(Autonomous)</a:t>
            </a:r>
          </a:p>
        </p:txBody>
      </p:sp>
      <p:sp>
        <p:nvSpPr>
          <p:cNvPr id="7" name="Rectangle 6"/>
          <p:cNvSpPr/>
          <p:nvPr/>
        </p:nvSpPr>
        <p:spPr>
          <a:xfrm>
            <a:off x="0" y="6492240"/>
            <a:ext cx="9144000" cy="365760"/>
          </a:xfrm>
          <a:prstGeom prst="rect">
            <a:avLst/>
          </a:prstGeom>
          <a:solidFill>
            <a:srgbClr val="1A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0" y="6492240"/>
            <a:ext cx="457200" cy="365760"/>
          </a:xfrm>
          <a:prstGeom prst="rect">
            <a:avLst/>
          </a:prstGeom>
          <a:noFill/>
        </p:spPr>
        <p:txBody>
          <a:bodyPr wrap="square">
            <a:spAutoFit/>
          </a:bodyPr>
          <a:lstStyle/>
          <a:p>
            <a:pPr algn="r"/>
            <a:r>
              <a:rPr sz="1100" b="0" i="0">
                <a:solidFill>
                  <a:srgbClr val="FFFFFF"/>
                </a:solidFill>
              </a:rPr>
              <a:t>5</a:t>
            </a:r>
          </a:p>
        </p:txBody>
      </p:sp>
      <p:sp>
        <p:nvSpPr>
          <p:cNvPr id="9" name="Rectangle 8"/>
          <p:cNvSpPr/>
          <p:nvPr/>
        </p:nvSpPr>
        <p:spPr>
          <a:xfrm>
            <a:off x="274320" y="1417320"/>
            <a:ext cx="8595360" cy="5029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920240"/>
            <a:ext cx="8595360" cy="36576"/>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463040"/>
            <a:ext cx="8229600" cy="457200"/>
          </a:xfrm>
          <a:prstGeom prst="rect">
            <a:avLst/>
          </a:prstGeom>
          <a:noFill/>
        </p:spPr>
        <p:txBody>
          <a:bodyPr wrap="square">
            <a:spAutoFit/>
          </a:bodyPr>
          <a:lstStyle/>
          <a:p>
            <a:pPr algn="l"/>
            <a:r>
              <a:rPr sz="2000" b="1" i="0">
                <a:solidFill>
                  <a:srgbClr val="FFFFFF"/>
                </a:solidFill>
              </a:rPr>
              <a:t>My Opinion</a:t>
            </a:r>
          </a:p>
        </p:txBody>
      </p:sp>
      <p:sp>
        <p:nvSpPr>
          <p:cNvPr id="12" name="Rectangle 11"/>
          <p:cNvSpPr/>
          <p:nvPr/>
        </p:nvSpPr>
        <p:spPr>
          <a:xfrm>
            <a:off x="274320" y="2057400"/>
            <a:ext cx="8595360" cy="4160520"/>
          </a:xfrm>
          <a:prstGeom prst="rect">
            <a:avLst/>
          </a:prstGeom>
          <a:solidFill>
            <a:srgbClr val="FFFFFF"/>
          </a:solidFill>
          <a:ln w="1905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212848"/>
            <a:ext cx="8229600" cy="3840480"/>
          </a:xfrm>
          <a:prstGeom prst="rect">
            <a:avLst/>
          </a:prstGeom>
          <a:noFill/>
        </p:spPr>
        <p:txBody>
          <a:bodyPr wrap="square">
            <a:spAutoFit/>
          </a:bodyPr>
          <a:lstStyle/>
          <a:p>
            <a:pPr algn="l"/>
            <a:r>
              <a:rPr sz="1500" b="0" i="0">
                <a:solidFill>
                  <a:srgbClr val="333333"/>
                </a:solidFill>
              </a:rPr>
              <a:t>Harry Potter and the Philosopher's Stone is a magical and unforgettable reading experience. J.K. Rowling has created a vivid and imaginative world that feels completely real, filled with fascinating characters, creative settings, and a plot that keeps readers eagerly turning every page.
What makes this book truly special is its heart — the themes of friendship, bravery, and love resonate deeply with readers of all ages.
This is not just a story for children — it is a story about what it means to be human: to face fear, to choose good over evil, and to find your place in the world. I highly recommend this timeless classic to every reader.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9144000" cy="73152"/>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0"/>
            <a:ext cx="9144000" cy="73152"/>
          </a:xfrm>
          <a:prstGeom prst="rect">
            <a:avLst/>
          </a:prstGeom>
          <a:solidFill>
            <a:srgbClr val="C8A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8229600" cy="548640"/>
          </a:xfrm>
          <a:prstGeom prst="rect">
            <a:avLst/>
          </a:prstGeom>
          <a:noFill/>
        </p:spPr>
        <p:txBody>
          <a:bodyPr wrap="square">
            <a:spAutoFit/>
          </a:bodyPr>
          <a:lstStyle/>
          <a:p>
            <a:pPr algn="ctr"/>
            <a:r>
              <a:rPr sz="2600" b="1" i="0">
                <a:solidFill>
                  <a:srgbClr val="FFFFFF"/>
                </a:solidFill>
              </a:rPr>
              <a:t>NEHRU ARTS AND SCIENCE COLLEGE</a:t>
            </a:r>
          </a:p>
        </p:txBody>
      </p:sp>
      <p:sp>
        <p:nvSpPr>
          <p:cNvPr id="6" name="TextBox 5"/>
          <p:cNvSpPr txBox="1"/>
          <p:nvPr/>
        </p:nvSpPr>
        <p:spPr>
          <a:xfrm>
            <a:off x="457200" y="658368"/>
            <a:ext cx="8229600" cy="365760"/>
          </a:xfrm>
          <a:prstGeom prst="rect">
            <a:avLst/>
          </a:prstGeom>
          <a:noFill/>
        </p:spPr>
        <p:txBody>
          <a:bodyPr wrap="square">
            <a:spAutoFit/>
          </a:bodyPr>
          <a:lstStyle/>
          <a:p>
            <a:pPr algn="ctr"/>
            <a:r>
              <a:rPr sz="1600" b="0" i="0">
                <a:solidFill>
                  <a:srgbClr val="C8A01A"/>
                </a:solidFill>
              </a:rPr>
              <a:t>(Autonomous)</a:t>
            </a:r>
          </a:p>
        </p:txBody>
      </p:sp>
      <p:sp>
        <p:nvSpPr>
          <p:cNvPr id="7" name="TextBox 6"/>
          <p:cNvSpPr txBox="1"/>
          <p:nvPr/>
        </p:nvSpPr>
        <p:spPr>
          <a:xfrm>
            <a:off x="457200" y="2651760"/>
            <a:ext cx="8229600" cy="1097280"/>
          </a:xfrm>
          <a:prstGeom prst="rect">
            <a:avLst/>
          </a:prstGeom>
          <a:noFill/>
        </p:spPr>
        <p:txBody>
          <a:bodyPr wrap="square">
            <a:spAutoFit/>
          </a:bodyPr>
          <a:lstStyle/>
          <a:p>
            <a:pPr algn="ctr"/>
            <a:r>
              <a:rPr sz="5200" b="1" i="0">
                <a:solidFill>
                  <a:srgbClr val="FFFFFF"/>
                </a:solidFill>
              </a:rPr>
              <a:t>Thank You</a:t>
            </a:r>
          </a:p>
        </p:txBody>
      </p:sp>
      <p:sp>
        <p:nvSpPr>
          <p:cNvPr id="8" name="TextBox 7"/>
          <p:cNvSpPr txBox="1"/>
          <p:nvPr/>
        </p:nvSpPr>
        <p:spPr>
          <a:xfrm>
            <a:off x="457200" y="4023360"/>
            <a:ext cx="8229600" cy="457200"/>
          </a:xfrm>
          <a:prstGeom prst="rect">
            <a:avLst/>
          </a:prstGeom>
          <a:noFill/>
        </p:spPr>
        <p:txBody>
          <a:bodyPr wrap="square">
            <a:spAutoFit/>
          </a:bodyPr>
          <a:lstStyle/>
          <a:p>
            <a:pPr algn="ctr"/>
            <a:r>
              <a:rPr sz="1600" b="0" i="1">
                <a:solidFill>
                  <a:srgbClr val="C8A01A"/>
                </a:solidFill>
              </a:rPr>
              <a:t>Communicative English Practical – 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